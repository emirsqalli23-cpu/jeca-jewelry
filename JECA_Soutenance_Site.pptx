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Relationship Id="rId4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Relationship Id="rId4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eca-site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5240">
            <a:solidFill>
              <a:srgbClr val="B8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14300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697480"/>
            <a:ext cx="103628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5000" b="0" i="0">
                <a:solidFill>
                  <a:srgbClr val="1A1A1A"/>
                </a:solidFill>
                <a:latin typeface="Georgia"/>
              </a:rPr>
              <a:t>JECA JEWELRY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730087" y="3611880"/>
            <a:ext cx="731520" cy="1905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300" b="0" i="1">
                <a:solidFill>
                  <a:srgbClr val="9C7A4A"/>
                </a:solidFill>
                <a:latin typeface="Georgia"/>
              </a:rPr>
              <a:t>La sérénité se porte.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44444"/>
                </a:solidFill>
                <a:latin typeface="Helvetica Neue"/>
              </a:rPr>
              <a:t>Bijoux connectés de géolocalisation pour enfants — assemblés en France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6F6F6F"/>
                </a:solidFill>
                <a:latin typeface="Helvetica Neue"/>
              </a:rPr>
              <a:t>Soutenance e-commerce · Projet Bac+4 / MBA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9C7A4A"/>
                </a:solidFill>
                <a:latin typeface="Helvetica Neue"/>
                <a:hlinkClick r:id="rId3"/>
              </a:rPr>
              <a:t>▸  Visiter la boutique en ligne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2700">
            <a:solidFill>
              <a:srgbClr val="B8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57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Georgia"/>
              </a:rPr>
              <a:t>JECA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C7A4A"/>
                </a:solidFill>
                <a:latin typeface="Georgia"/>
              </a:rPr>
              <a:t>JEWELRY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47548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7A4A"/>
                </a:solidFill>
                <a:latin typeface="Helvetica Neue"/>
                <a:hlinkClick r:id="rId3"/>
              </a:rPr>
              <a:t>jeca-site.vercel.app</a:t>
            </a:r>
          </a:p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6F6F6F"/>
                </a:solidFill>
                <a:latin typeface="Helvetica Neue"/>
              </a:rPr>
              <a:t>  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C7A4A"/>
                </a:solidFill>
                <a:latin typeface="Helvetica Neue"/>
              </a:rPr>
              <a:t>LE CHOIX DU PRODUIT — POURQUOI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457200" cy="1905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1055" y="1874519"/>
            <a:ext cx="4572000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1828800"/>
            <a:ext cx="57607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900" b="0" i="0">
                <a:solidFill>
                  <a:srgbClr val="1A1A1A"/>
                </a:solidFill>
                <a:latin typeface="Georgia"/>
              </a:rPr>
              <a:t>À l'intersection de deux échecs</a:t>
            </a:r>
          </a:p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Le déclic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Helvetica Neue"/>
              </a:rPr>
              <a:t>« Quand un enfant disparaît dans une grande surface, les premières minutes décident de tout. »</a:t>
            </a:r>
          </a:p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Marché clivé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Helvetica Neue"/>
              </a:rPr>
              <a:t>les balises GPS sont fiables mais personne ne les porte ; les bijoux/montres sont beaux mais sans vraie sécurité.</a:t>
            </a:r>
          </a:p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Notre place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Helvetica Neue"/>
              </a:rPr>
              <a:t>un bijou que l'enfant porte par envie, qui rassure sans qu'on y pense. Un dispositif n'est efficace que s'il est porté.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2700">
            <a:solidFill>
              <a:srgbClr val="B8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57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Georgia"/>
              </a:rPr>
              <a:t>JECA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C7A4A"/>
                </a:solidFill>
                <a:latin typeface="Georgia"/>
              </a:rPr>
              <a:t>JEWELRY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47548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7A4A"/>
                </a:solidFill>
                <a:latin typeface="Helvetica Neue"/>
                <a:hlinkClick r:id="rId3"/>
              </a:rPr>
              <a:t>jeca-site.vercel.app</a:t>
            </a:r>
          </a:p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6F6F6F"/>
                </a:solidFill>
                <a:latin typeface="Helvetica Neue"/>
              </a:rPr>
              <a:t>  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C7A4A"/>
                </a:solidFill>
                <a:latin typeface="Helvetica Neue"/>
              </a:rPr>
              <a:t>LE MARCHÉ — UN POTENTIEL CHIFFRÉ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457200" cy="1905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6583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0" i="0">
                <a:solidFill>
                  <a:srgbClr val="1A1A1A"/>
                </a:solidFill>
                <a:latin typeface="Georgia"/>
              </a:rPr>
              <a:t>Un marché porteur, peu sensible au prix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2468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9C7A4A"/>
                </a:solidFill>
                <a:latin typeface="Georgia"/>
              </a:rPr>
              <a:t>60 Md$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444444"/>
                </a:solidFill>
                <a:latin typeface="Helvetica Neue"/>
              </a:rPr>
              <a:t>wearables dans le monde (2023), +12 %/an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97480"/>
            <a:ext cx="2468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9C7A4A"/>
                </a:solidFill>
                <a:latin typeface="Georgia"/>
              </a:rPr>
              <a:t>12 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444444"/>
                </a:solidFill>
                <a:latin typeface="Helvetica Neue"/>
              </a:rPr>
              <a:t>enfants de –15 ans en France (cible 4–12)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97680"/>
            <a:ext cx="2468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9C7A4A"/>
                </a:solidFill>
                <a:latin typeface="Georgia"/>
              </a:rPr>
              <a:t>100–130 M€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444444"/>
                </a:solidFill>
                <a:latin typeface="Helvetica Neue"/>
              </a:rPr>
              <a:t>marché adressable / an (SAM)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2468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9C7A4A"/>
                </a:solidFill>
                <a:latin typeface="Georgia"/>
              </a:rPr>
              <a:t>&lt; 5 %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444444"/>
                </a:solidFill>
                <a:latin typeface="Helvetica Neue"/>
              </a:rPr>
              <a:t>du SAM visé en 3 ans (SOM) — marge de croissance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00" cy="868680"/>
          </a:xfrm>
          <a:prstGeom prst="rect">
            <a:avLst/>
          </a:prstGeom>
          <a:solidFill>
            <a:srgbClr val="B8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459736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TAM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0E9DA"/>
                </a:solidFill>
                <a:latin typeface="Helvetica Neue"/>
              </a:rPr>
              <a:t>5 M foyers · panier ~90 €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337560"/>
            <a:ext cx="3474720" cy="86868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3465576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SAM · 100–130 M€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0E9DA"/>
                </a:solidFill>
                <a:latin typeface="Helvetica Neue"/>
              </a:rPr>
              <a:t>500 000 foyers premium + abo ~100 €/an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4343400"/>
            <a:ext cx="2194560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4471416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SOM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0E9DA"/>
                </a:solidFill>
                <a:latin typeface="Helvetica Neue"/>
              </a:rPr>
              <a:t>dizaines de milliers de clients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5440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6F6F6F"/>
                </a:solidFill>
                <a:latin typeface="Helvetica Neue"/>
              </a:rPr>
              <a:t>Approche en entonnoir (dossier, partie 2)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2700">
            <a:solidFill>
              <a:srgbClr val="B8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57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Georgia"/>
              </a:rPr>
              <a:t>JECA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C7A4A"/>
                </a:solidFill>
                <a:latin typeface="Georgia"/>
              </a:rPr>
              <a:t>JEWELRY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47548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7A4A"/>
                </a:solidFill>
                <a:latin typeface="Helvetica Neue"/>
                <a:hlinkClick r:id="rId3"/>
              </a:rPr>
              <a:t>jeca-site.vercel.app</a:t>
            </a:r>
          </a:p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6F6F6F"/>
                </a:solidFill>
                <a:latin typeface="Helvetica Neue"/>
              </a:rPr>
              <a:t>  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C7A4A"/>
                </a:solidFill>
                <a:latin typeface="Helvetica Neue"/>
              </a:rPr>
              <a:t>POUR QUI — 3 PERSONAS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457200" cy="1905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874519"/>
            <a:ext cx="4572000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1828800"/>
            <a:ext cx="57607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900" b="0" i="0">
                <a:solidFill>
                  <a:srgbClr val="1A1A1A"/>
                </a:solidFill>
                <a:latin typeface="Georgia"/>
              </a:rPr>
              <a:t>Trois profils, une même attente</a:t>
            </a:r>
          </a:p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Sophie, 38 ans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Helvetica Neue"/>
              </a:rPr>
              <a:t>mère active, deux enfants : savoir où ils sont sans culpabiliser de travailler.</a:t>
            </a:r>
          </a:p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Karim, 42 ans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Helvetica Neue"/>
              </a:rPr>
              <a:t>parent célibataire, mobile : pub Insta → avis → compare Weenect → achète le Bracelet Étoile → s'abonne à l'installation de l'app.</a:t>
            </a:r>
          </a:p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Inès, 36 ans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Helvetica Neue"/>
              </a:rPr>
              <a:t>sensible au style : refuse les montres « gadget », choisit le Collier JECA Lune en or.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2700">
            <a:solidFill>
              <a:srgbClr val="B8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57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Georgia"/>
              </a:rPr>
              <a:t>JECA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C7A4A"/>
                </a:solidFill>
                <a:latin typeface="Georgia"/>
              </a:rPr>
              <a:t>JEWELRY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47548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7A4A"/>
                </a:solidFill>
                <a:latin typeface="Helvetica Neue"/>
                <a:hlinkClick r:id="rId3"/>
              </a:rPr>
              <a:t>jeca-site.vercel.app</a:t>
            </a:r>
          </a:p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6F6F6F"/>
                </a:solidFill>
                <a:latin typeface="Helvetica Neue"/>
              </a:rPr>
              <a:t>  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C7A4A"/>
                </a:solidFill>
                <a:latin typeface="Helvetica Neue"/>
              </a:rPr>
              <a:t>COMMENT — LA TECHNOLOGIE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457200" cy="1905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1055" y="1874519"/>
            <a:ext cx="4572000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1828800"/>
            <a:ext cx="57607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900" b="0" i="0">
                <a:solidFill>
                  <a:srgbClr val="1A1A1A"/>
                </a:solidFill>
                <a:latin typeface="Georgia"/>
              </a:rPr>
              <a:t>Un GPS invisible dans un vrai bijou</a:t>
            </a:r>
          </a:p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GPS temps réel + SOS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Helvetica Neue"/>
              </a:rPr>
              <a:t>module miniaturisé dans le fermoir de sécurité ; bouton SOS qui alerte les parents.</a:t>
            </a:r>
          </a:p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Pensé pour l'enfant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Helvetica Neue"/>
              </a:rPr>
              <a:t>fermoir magnétique anti-étranglement (collier), étanche IP67, hypoallergénique.</a:t>
            </a:r>
          </a:p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Autonomie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Helvetica Neue"/>
              </a:rPr>
              <a:t>48 à 72 h (bracelet), jusqu'à 4 jours (collier) ; charge magnétique.</a:t>
            </a:r>
          </a:p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Données en France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444444"/>
                </a:solidFill>
                <a:latin typeface="Helvetica Neue"/>
              </a:rPr>
              <a:t>zones de sécurité, hébergement &amp; RGPD — la confiance n'est pas négociable.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2700">
            <a:solidFill>
              <a:srgbClr val="B8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57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Georgia"/>
              </a:rPr>
              <a:t>JECA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C7A4A"/>
                </a:solidFill>
                <a:latin typeface="Georgia"/>
              </a:rPr>
              <a:t>JEWELRY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47548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7A4A"/>
                </a:solidFill>
                <a:latin typeface="Helvetica Neue"/>
                <a:hlinkClick r:id="rId3"/>
              </a:rPr>
              <a:t>jeca-site.vercel.app</a:t>
            </a:r>
          </a:p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6F6F6F"/>
                </a:solidFill>
                <a:latin typeface="Helvetica Neue"/>
              </a:rPr>
              <a:t>  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C7A4A"/>
                </a:solidFill>
                <a:latin typeface="Helvetica Neue"/>
              </a:rPr>
              <a:t>DIAGNOSTIC — SWOT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457200" cy="1905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Forces, faiblesses, opportunités, menaces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14600"/>
            <a:ext cx="5257800" cy="1828800"/>
          </a:xfrm>
          <a:prstGeom prst="rect">
            <a:avLst/>
          </a:prstGeom>
          <a:solidFill>
            <a:srgbClr val="F3EFE8"/>
          </a:solidFill>
          <a:ln w="12700">
            <a:solidFill>
              <a:srgbClr val="E7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660904"/>
            <a:ext cx="485546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9C7A4A"/>
                </a:solidFill>
                <a:latin typeface="Helvetica Neue"/>
              </a:rPr>
              <a:t>Forces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Bijou + GPS réunis (unique en France)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Données 100 % France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Revenu récurrent (abonnement)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14600"/>
            <a:ext cx="5257800" cy="1828800"/>
          </a:xfrm>
          <a:prstGeom prst="rect">
            <a:avLst/>
          </a:prstGeom>
          <a:solidFill>
            <a:srgbClr val="F3EFE8"/>
          </a:solidFill>
          <a:ln w="12700">
            <a:solidFill>
              <a:srgbClr val="E7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2660904"/>
            <a:ext cx="485546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9C7A4A"/>
                </a:solidFill>
                <a:latin typeface="Helvetica Neue"/>
              </a:rPr>
              <a:t>Opportunités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Wearables +12 %/an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Souveraineté des données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Cadeau : rentrée, Noël, anniversaire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26280"/>
            <a:ext cx="5257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672584"/>
            <a:ext cx="485546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9C7A4A"/>
                </a:solidFill>
                <a:latin typeface="Helvetica Neue"/>
              </a:rPr>
              <a:t>Faiblesses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Marque nouvelle à faire connaître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CAC à maîtriser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Prix bijou + abonnement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526280"/>
            <a:ext cx="5257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4672584"/>
            <a:ext cx="485546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9C7A4A"/>
                </a:solidFill>
                <a:latin typeface="Helvetica Neue"/>
              </a:rPr>
              <a:t>Menaces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Weenect · Xplora · AngelSense (stigmatisant)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AirTag ~30 € détourné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Helvetica Neue"/>
              </a:rPr>
              <a:t>·  Entrée d'un géant (Apple/Samsung)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2700">
            <a:solidFill>
              <a:srgbClr val="B8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57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Georgia"/>
              </a:rPr>
              <a:t>JECA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C7A4A"/>
                </a:solidFill>
                <a:latin typeface="Georgia"/>
              </a:rPr>
              <a:t>JEWELRY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47548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7A4A"/>
                </a:solidFill>
                <a:latin typeface="Helvetica Neue"/>
                <a:hlinkClick r:id="rId3"/>
              </a:rPr>
              <a:t>jeca-site.vercel.app</a:t>
            </a:r>
          </a:p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6F6F6F"/>
                </a:solidFill>
                <a:latin typeface="Helvetica Neue"/>
              </a:rPr>
              <a:t>  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C7A4A"/>
                </a:solidFill>
                <a:latin typeface="Helvetica Neue"/>
              </a:rPr>
              <a:t>CONSTRUCTION E-COMMERCE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457200" cy="1905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1A1A1A"/>
                </a:solidFill>
                <a:latin typeface="Georgia"/>
              </a:rPr>
              <a:t>Notre boutique, en ligne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5669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7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Plateforme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444444"/>
                </a:solidFill>
                <a:latin typeface="Helvetica Neue"/>
              </a:rPr>
              <a:t>site codé sur-mesure (HTML/CSS/JS), 14 pages, déployé sur Vercel, hébergé en France.</a:t>
            </a:r>
          </a:p>
          <a:p>
            <a:pPr algn="l">
              <a:spcBef>
                <a:spcPts val="7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Paiement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444444"/>
                </a:solidFill>
                <a:latin typeface="Helvetica Neue"/>
              </a:rPr>
              <a:t>Stripe sécurisé, CB + paiement 3× sans frais, HTTPS.</a:t>
            </a:r>
          </a:p>
          <a:p>
            <a:pPr algn="l">
              <a:spcBef>
                <a:spcPts val="7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Livraison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444444"/>
                </a:solidFill>
                <a:latin typeface="Helvetica Neue"/>
              </a:rPr>
              <a:t>72 h, offerte dès 79 €, suivi du colis.</a:t>
            </a:r>
          </a:p>
          <a:p>
            <a:pPr algn="l">
              <a:spcBef>
                <a:spcPts val="7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CGV &amp; RGPD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444444"/>
                </a:solidFill>
                <a:latin typeface="Helvetica Neue"/>
              </a:rPr>
              <a:t>rétractation 14 j (loi Hamon), garantie 2 ans, cookies, mentions légales.</a:t>
            </a:r>
          </a:p>
        </p:txBody>
      </p:sp>
      <p:pic>
        <p:nvPicPr>
          <p:cNvPr id="11" name="Picture 10" descr="i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3855" y="1828800"/>
            <a:ext cx="5029200" cy="32004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13855" y="5166360"/>
            <a:ext cx="5029200" cy="6400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3855" y="5266944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89A6B"/>
                </a:solidFill>
                <a:latin typeface="Helvetica Neue"/>
                <a:hlinkClick r:id="rId3"/>
              </a:rPr>
              <a:t>▸  Cliquez : jeca-site.vercel.app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2700">
            <a:solidFill>
              <a:srgbClr val="B8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57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Georgia"/>
              </a:rPr>
              <a:t>JECA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C7A4A"/>
                </a:solidFill>
                <a:latin typeface="Georgia"/>
              </a:rPr>
              <a:t>JEWELRY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47548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7A4A"/>
                </a:solidFill>
                <a:latin typeface="Helvetica Neue"/>
                <a:hlinkClick r:id="rId3"/>
              </a:rPr>
              <a:t>jeca-site.vercel.app</a:t>
            </a:r>
          </a:p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6F6F6F"/>
                </a:solidFill>
                <a:latin typeface="Helvetica Neue"/>
              </a:rPr>
              <a:t>  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C7A4A"/>
                </a:solidFill>
                <a:latin typeface="Helvetica Neue"/>
              </a:rPr>
              <a:t>LE PRODUIT — LA GAMME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457200" cy="1905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1A1A1A"/>
                </a:solidFill>
                <a:latin typeface="Georgia"/>
              </a:rPr>
              <a:t>Trois familles · or &amp; argent</a:t>
            </a:r>
          </a:p>
        </p:txBody>
      </p:sp>
      <p:pic>
        <p:nvPicPr>
          <p:cNvPr id="10" name="Picture 9" descr="i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560320"/>
            <a:ext cx="329184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102352"/>
            <a:ext cx="3291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Georgia"/>
              </a:rPr>
              <a:t>Bracelets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F6F6F"/>
                </a:solidFill>
                <a:latin typeface="Helvetica Neue"/>
              </a:rPr>
              <a:t>Étoile · Cœur · Infini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9C7A4A"/>
                </a:solidFill>
                <a:latin typeface="Helvetica Neue"/>
              </a:rPr>
              <a:t>Argent 79 € · Or 99 €</a:t>
            </a:r>
          </a:p>
        </p:txBody>
      </p:sp>
      <p:pic>
        <p:nvPicPr>
          <p:cNvPr id="12" name="Picture 11" descr="i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2560320"/>
            <a:ext cx="3291840" cy="2468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5102352"/>
            <a:ext cx="3291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Georgia"/>
              </a:rPr>
              <a:t>Colliers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F6F6F"/>
                </a:solidFill>
                <a:latin typeface="Helvetica Neue"/>
              </a:rPr>
              <a:t>Médaillon · Lune · Trèfle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9C7A4A"/>
                </a:solidFill>
                <a:latin typeface="Helvetica Neue"/>
              </a:rPr>
              <a:t>Argent 89 € · Or 109 €</a:t>
            </a:r>
          </a:p>
        </p:txBody>
      </p:sp>
      <p:pic>
        <p:nvPicPr>
          <p:cNvPr id="14" name="Picture 13" descr="i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560320"/>
            <a:ext cx="3291840" cy="2468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5102352"/>
            <a:ext cx="3291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Georgia"/>
              </a:rPr>
              <a:t>Boucles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F6F6F"/>
                </a:solidFill>
                <a:latin typeface="Helvetica Neue"/>
              </a:rPr>
              <a:t>Étoile · Cœur · Fleur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9C7A4A"/>
                </a:solidFill>
                <a:latin typeface="Helvetica Neue"/>
              </a:rPr>
              <a:t>69 – 89 €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1675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F6F6F"/>
                </a:solidFill>
                <a:latin typeface="Helvetica Neue"/>
              </a:rPr>
              <a:t>Même base technique · abonnement à partir de 6,99 €/mois, sans engagement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2700">
            <a:solidFill>
              <a:srgbClr val="B8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57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Georgia"/>
              </a:rPr>
              <a:t>JECA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C7A4A"/>
                </a:solidFill>
                <a:latin typeface="Georgia"/>
              </a:rPr>
              <a:t>JEWELRY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47548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7A4A"/>
                </a:solidFill>
                <a:latin typeface="Helvetica Neue"/>
                <a:hlinkClick r:id="rId3"/>
              </a:rPr>
              <a:t>jeca-site.vercel.app</a:t>
            </a:r>
          </a:p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6F6F6F"/>
                </a:solidFill>
                <a:latin typeface="Helvetica Neue"/>
              </a:rPr>
              <a:t>  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C7A4A"/>
                </a:solidFill>
                <a:latin typeface="Helvetica Neue"/>
              </a:rPr>
              <a:t>STRATÉGIE — IA · SEO · 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457200" cy="1905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1A1A1A"/>
                </a:solidFill>
                <a:latin typeface="Georgia"/>
              </a:rPr>
              <a:t>Construit avec l'IA, piloté par la donnée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3520440" cy="3200400"/>
          </a:xfrm>
          <a:prstGeom prst="rect">
            <a:avLst/>
          </a:prstGeom>
          <a:solidFill>
            <a:srgbClr val="F3EFE8"/>
          </a:solidFill>
          <a:ln w="12700">
            <a:solidFill>
              <a:srgbClr val="E7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907792"/>
            <a:ext cx="3008376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9C7A4A"/>
                </a:solidFill>
                <a:latin typeface="Georgia"/>
              </a:rPr>
              <a:t>Les IA utilisées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Claude — site &amp; code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Canva — logo, visuels, film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ChatGPT — fiches &amp; SEO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Python — automatisation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→ vitesse ×10, zéro agence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651760"/>
            <a:ext cx="3520440" cy="3200400"/>
          </a:xfrm>
          <a:prstGeom prst="rect">
            <a:avLst/>
          </a:prstGeom>
          <a:solidFill>
            <a:srgbClr val="F3EFE8"/>
          </a:solidFill>
          <a:ln w="12700">
            <a:solidFill>
              <a:srgbClr val="E7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907792"/>
            <a:ext cx="3008376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9C7A4A"/>
                </a:solidFill>
                <a:latin typeface="Georgia"/>
              </a:rPr>
              <a:t>SEO &amp; calendrier éditorial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« bracelet GPS enfant »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Balises meta optimisées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Blog : 1 article / semaine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Temps forts : rentrée, Noël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651760"/>
            <a:ext cx="3520440" cy="3200400"/>
          </a:xfrm>
          <a:prstGeom prst="rect">
            <a:avLst/>
          </a:prstGeom>
          <a:solidFill>
            <a:srgbClr val="F3EFE8"/>
          </a:solidFill>
          <a:ln w="12700">
            <a:solidFill>
              <a:srgbClr val="E7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85632" y="2907792"/>
            <a:ext cx="3008376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9C7A4A"/>
                </a:solidFill>
                <a:latin typeface="Georgia"/>
              </a:rPr>
              <a:t>KPI suivis — et pourquoi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Conversion → la boutique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CAC → l'acquisition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Rétention → l'abonnement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LTV → la valeur client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2700">
            <a:solidFill>
              <a:srgbClr val="B8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57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Georgia"/>
              </a:rPr>
              <a:t>JECA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C7A4A"/>
                </a:solidFill>
                <a:latin typeface="Georgia"/>
              </a:rPr>
              <a:t>JEWELRY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47548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9C7A4A"/>
                </a:solidFill>
                <a:latin typeface="Helvetica Neue"/>
                <a:hlinkClick r:id="rId3"/>
              </a:rPr>
              <a:t>jeca-site.vercel.app</a:t>
            </a:r>
          </a:p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6F6F6F"/>
                </a:solidFill>
                <a:latin typeface="Helvetica Neue"/>
              </a:rPr>
              <a:t>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C7A4A"/>
                </a:solidFill>
                <a:latin typeface="Helvetica Neue"/>
              </a:rPr>
              <a:t>MODÈLE ÉCONOMIQUE &amp; FINANCES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457200" cy="19050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0" i="0">
                <a:solidFill>
                  <a:srgbClr val="1A1A1A"/>
                </a:solidFill>
                <a:latin typeface="Georgia"/>
              </a:rPr>
              <a:t>Rentable dès l'année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54864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Revenu hybride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444444"/>
                </a:solidFill>
                <a:latin typeface="Helvetica Neue"/>
              </a:rPr>
              <a:t>Vente du bijou (immédiat) + abonnement (récurrent, forte marge).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CA année 1 : 732 000 €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444444"/>
                </a:solidFill>
                <a:latin typeface="Helvetica Neue"/>
              </a:rPr>
              <a:t>540 000 € produits  +  192 000 € abonnements.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Seuil de rentabilité : ~700 000 €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444444"/>
                </a:solidFill>
                <a:latin typeface="Helvetica Neue"/>
              </a:rPr>
              <a:t>Atteint dès l'année 1 — rare pour un produit matériel.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450" b="1" i="0">
                <a:solidFill>
                  <a:srgbClr val="9C7A4A"/>
                </a:solidFill>
                <a:latin typeface="Helvetica Neue"/>
              </a:rPr>
              <a:t>Risques surveillés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44444"/>
                </a:solidFill>
                <a:latin typeface="Helvetica Neue"/>
              </a:rPr>
              <a:t>Coût d'acquisition (CAC) · rétention des abonnés.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3317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Helvetica Neue"/>
              </a:rPr>
              <a:t>Marge d'exploitation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5044966"/>
            <a:ext cx="1097280" cy="624314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4679206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Helvetica Neue"/>
              </a:rPr>
              <a:t>6,6 %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5742432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444444"/>
                </a:solidFill>
                <a:latin typeface="Helvetica Neue"/>
              </a:rPr>
              <a:t>Année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4061198"/>
            <a:ext cx="1097280" cy="1608082"/>
          </a:xfrm>
          <a:prstGeom prst="rect">
            <a:avLst/>
          </a:prstGeom>
          <a:solidFill>
            <a:srgbClr val="9C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3695438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Helvetica Neue"/>
              </a:rPr>
              <a:t>≈ 17 %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5742432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444444"/>
                </a:solidFill>
                <a:latin typeface="Helvetica Neue"/>
              </a:rPr>
              <a:t>Année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32720" y="2926080"/>
            <a:ext cx="109728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5560" y="25603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Helvetica Neue"/>
              </a:rPr>
              <a:t>≈ 29 %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5742432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444444"/>
                </a:solidFill>
                <a:latin typeface="Helvetica Neue"/>
              </a:rPr>
              <a:t>Année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61264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F6F6F"/>
                </a:solidFill>
                <a:latin typeface="Helvetica Neue"/>
              </a:rPr>
              <a:t>L'effet de levier de l'abonnement ×4 la marge en 3 ans.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15240">
            <a:solidFill>
              <a:srgbClr val="9C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86868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240280"/>
            <a:ext cx="1036289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JECA Jewelry transforme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l'inquiétude en sérénité.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5730087" y="3611880"/>
            <a:ext cx="731520" cy="19050"/>
          </a:xfrm>
          <a:prstGeom prst="rect">
            <a:avLst/>
          </a:prstGeom>
          <a:solidFill>
            <a:srgbClr val="B8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4484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8E2D6"/>
                </a:solidFill>
                <a:latin typeface="Helvetica Neue"/>
              </a:rPr>
              <a:t>« Depuis qu'elle porte son collier JECA, je n'ai plus cette boule au ventre à la sortie de l'école. »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B89A6B"/>
                </a:solidFill>
                <a:latin typeface="Helvetica Neue"/>
              </a:rPr>
              <a:t>— Sophie, maman de deux enfants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66360"/>
            <a:ext cx="103628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hlinkClick r:id="rId3"/>
              </a:rPr>
              <a:t>▸  jeca-site.vercel.app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9C4BA"/>
                </a:solidFill>
                <a:latin typeface="Helvetica Neue"/>
              </a:rPr>
              <a:t>Merci de votre attention.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