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524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23444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8892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000" b="0" i="0">
                <a:solidFill>
                  <a:srgbClr val="1A1A1A"/>
                </a:solidFill>
                <a:latin typeface="Georgia"/>
              </a:rPr>
              <a:t>JECA JEWELRY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30087" y="3703320"/>
            <a:ext cx="73152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300" b="0" i="1">
                <a:solidFill>
                  <a:srgbClr val="9C7A4A"/>
                </a:solidFill>
                <a:latin typeface="Georgia"/>
              </a:rPr>
              <a:t>La sérénité se porte.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28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Bijoux connectés de géolocalisation pour enfants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6F6F6F"/>
                </a:solidFill>
                <a:latin typeface="Helvetica Neue"/>
              </a:rPr>
              <a:t>Soutenance e-commerce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▸  jeca-site.vercel.app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270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57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Georgia"/>
              </a:rPr>
              <a:t>JECA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7A4A"/>
                </a:solidFill>
                <a:latin typeface="Georgia"/>
              </a:rPr>
              <a:t>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45720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C7A4A"/>
                </a:solidFill>
                <a:latin typeface="Helvetica Neue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7A4A"/>
                </a:solidFill>
                <a:latin typeface="Helvetica Neue"/>
              </a:rPr>
              <a:t>LE CHOIX DU PRODUIT — POURQUOI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055" y="1874519"/>
            <a:ext cx="45720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1828800"/>
            <a:ext cx="57607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Pourquoi un bijou GPS ?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Le problème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Chaque parent connaît la peur de perdre son enfant de vue. Balises et montres GPS ne sont pas portées : trop moches, trop chères.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Notre intuition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Un dispositif n'est efficace que s'il est porté — donc s'il est désirable.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Le choix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Un vrai bijou qui cache la technologie. Marché porteur, peu sensible au prix.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270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57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Georgia"/>
              </a:rPr>
              <a:t>JECA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7A4A"/>
                </a:solidFill>
                <a:latin typeface="Georgia"/>
              </a:rPr>
              <a:t>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45720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C7A4A"/>
                </a:solidFill>
                <a:latin typeface="Helvetica Neue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7A4A"/>
                </a:solidFill>
                <a:latin typeface="Helvetica Neue"/>
              </a:rPr>
              <a:t>POUR QUI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19"/>
            <a:ext cx="45720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1828800"/>
            <a:ext cx="57607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Trois parents, une même attente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Sophie, 38 ans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mère active : savoir où sont ses enfants sans culpabiliser.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Karim, 42 ans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parent célibataire : le SOS et le paiement en 3× le rassurent.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Inès, 36 ans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sensible au style : un vrai bijou, pas un gadget.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270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57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Georgia"/>
              </a:rPr>
              <a:t>JECA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7A4A"/>
                </a:solidFill>
                <a:latin typeface="Georgia"/>
              </a:rPr>
              <a:t>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45720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C7A4A"/>
                </a:solidFill>
                <a:latin typeface="Helvetica Neue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7A4A"/>
                </a:solidFill>
                <a:latin typeface="Helvetica Neue"/>
              </a:rPr>
              <a:t>COMMENT — LA TECHNOLOGIE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055" y="1874519"/>
            <a:ext cx="45720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1828800"/>
            <a:ext cx="57607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Un GPS caché dans un vrai bijou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Géolocalisation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position en temps réel, précision 5 m, mise à jour 30 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Bouton SOS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l'enfant alerte ses parents d'une simple pression.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Zones de sécurité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alerte dès qu'il quitte l'école.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Données en France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Helvetica Neue"/>
              </a:rPr>
              <a:t>conçu, assemblé et hébergé en France — RGPD.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270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57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Georgia"/>
              </a:rPr>
              <a:t>JECA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7A4A"/>
                </a:solidFill>
                <a:latin typeface="Georgia"/>
              </a:rPr>
              <a:t>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45720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C7A4A"/>
                </a:solidFill>
                <a:latin typeface="Helvetica Neue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7A4A"/>
                </a:solidFill>
                <a:latin typeface="Helvetica Neue"/>
              </a:rPr>
              <a:t>DIAGNOSTIC — SWOT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257800" cy="2148840"/>
          </a:xfrm>
          <a:prstGeom prst="rect">
            <a:avLst/>
          </a:prstGeom>
          <a:solidFill>
            <a:srgbClr val="F3EFE8"/>
          </a:solidFill>
          <a:ln w="12700">
            <a:solidFill>
              <a:srgbClr val="E7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48006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9C7A4A"/>
                </a:solidFill>
                <a:latin typeface="Helvetica Neue"/>
              </a:rPr>
              <a:t>Forces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Bijou + GPS réunis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Données 100% France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Revenu récurrent (abonnement)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257800" cy="2148840"/>
          </a:xfrm>
          <a:prstGeom prst="rect">
            <a:avLst/>
          </a:prstGeom>
          <a:solidFill>
            <a:srgbClr val="F3EFE8"/>
          </a:solidFill>
          <a:ln w="12700">
            <a:solidFill>
              <a:srgbClr val="E7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48006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9C7A4A"/>
                </a:solidFill>
                <a:latin typeface="Helvetica Neue"/>
              </a:rPr>
              <a:t>Opportunités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Marché wearables +12 %/an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Souveraineté des données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Cadeau (anniv, rentrée, Noël)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79392"/>
            <a:ext cx="48006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9C7A4A"/>
                </a:solidFill>
                <a:latin typeface="Helvetica Neue"/>
              </a:rPr>
              <a:t>Faiblesses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Marque nouvelle à faire connaître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Coût d'acquisition à maîtriser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Prix bijou + abonnement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11480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79392"/>
            <a:ext cx="48006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9C7A4A"/>
                </a:solidFill>
                <a:latin typeface="Helvetica Neue"/>
              </a:rPr>
              <a:t>Menaces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Weenect · Xplora · AngelSense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Géants tech (AirTag détourné)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·  Sensibilité RGPD / vie privée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270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57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Georgia"/>
              </a:rPr>
              <a:t>JECA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7A4A"/>
                </a:solidFill>
                <a:latin typeface="Georgia"/>
              </a:rPr>
              <a:t>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45720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C7A4A"/>
                </a:solidFill>
                <a:latin typeface="Helvetica Neue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7A4A"/>
                </a:solidFill>
                <a:latin typeface="Helvetica Neue"/>
              </a:rPr>
              <a:t>CONSTRUCTION E-COMMERCE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Notre boutique, en ligne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6692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7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Plateforme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444444"/>
                </a:solidFill>
                <a:latin typeface="Helvetica Neue"/>
              </a:rPr>
              <a:t>site codé sur-mesure (HTML/CSS/JS), 14 pages, déployé sur Vercel, hébergé en France.</a:t>
            </a:r>
          </a:p>
          <a:p>
            <a:pPr algn="l">
              <a:spcBef>
                <a:spcPts val="7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Paiement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444444"/>
                </a:solidFill>
                <a:latin typeface="Helvetica Neue"/>
              </a:rPr>
              <a:t>Stripe sécurisé, CB + paiement 3× sans frais, HTTPS.</a:t>
            </a:r>
          </a:p>
          <a:p>
            <a:pPr algn="l">
              <a:spcBef>
                <a:spcPts val="7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Livraison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444444"/>
                </a:solidFill>
                <a:latin typeface="Helvetica Neue"/>
              </a:rPr>
              <a:t>72 h, offerte dès 79 €, suivi du colis.</a:t>
            </a:r>
          </a:p>
          <a:p>
            <a:pPr algn="l">
              <a:spcBef>
                <a:spcPts val="700"/>
              </a:spcBef>
              <a:spcAft>
                <a:spcPts val="100"/>
              </a:spcAft>
            </a:pPr>
            <a:r>
              <a:rPr sz="1500" b="1" i="0">
                <a:solidFill>
                  <a:srgbClr val="9C7A4A"/>
                </a:solidFill>
                <a:latin typeface="Helvetica Neue"/>
              </a:rPr>
              <a:t>CGV &amp; RGPD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444444"/>
                </a:solidFill>
                <a:latin typeface="Helvetica Neue"/>
              </a:rPr>
              <a:t>rétractation 14 j (loi Hamon), garantie 2 ans, cookies, mentions légales.</a:t>
            </a:r>
          </a:p>
        </p:txBody>
      </p:sp>
      <p:pic>
        <p:nvPicPr>
          <p:cNvPr id="11" name="Picture 10" descr="i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55" y="1828800"/>
            <a:ext cx="5029200" cy="320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13855" y="5166360"/>
            <a:ext cx="502920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3855" y="5257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89A6B"/>
                </a:solidFill>
                <a:latin typeface="Helvetica Neue"/>
              </a:rPr>
              <a:t>▸  Visitez la boutique : jeca-site.vercel.app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270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57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Georgia"/>
              </a:rPr>
              <a:t>JECA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7A4A"/>
                </a:solidFill>
                <a:latin typeface="Georgia"/>
              </a:rPr>
              <a:t>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45720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C7A4A"/>
                </a:solidFill>
                <a:latin typeface="Helvetica Neue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7A4A"/>
                </a:solidFill>
                <a:latin typeface="Helvetica Neue"/>
              </a:rPr>
              <a:t>LE PRODUIT — LA GAMME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Trois familles · or &amp; argent</a:t>
            </a:r>
          </a:p>
        </p:txBody>
      </p:sp>
      <p:pic>
        <p:nvPicPr>
          <p:cNvPr id="10" name="Picture 9" descr="i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3291840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3949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Georgia"/>
              </a:rPr>
              <a:t>Bracelets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7A4A"/>
                </a:solidFill>
                <a:latin typeface="Helvetica Neue"/>
              </a:rPr>
              <a:t>79 – 99 €</a:t>
            </a:r>
          </a:p>
        </p:txBody>
      </p:sp>
      <p:pic>
        <p:nvPicPr>
          <p:cNvPr id="12" name="Picture 11" descr="i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06040"/>
            <a:ext cx="3291840" cy="2697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53949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Georgia"/>
              </a:rPr>
              <a:t>Colliers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7A4A"/>
                </a:solidFill>
                <a:latin typeface="Helvetica Neue"/>
              </a:rPr>
              <a:t>89 – 109 €</a:t>
            </a:r>
          </a:p>
        </p:txBody>
      </p:sp>
      <p:pic>
        <p:nvPicPr>
          <p:cNvPr id="14" name="Picture 13" descr="i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606040"/>
            <a:ext cx="3291840" cy="2697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0" y="53949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Georgia"/>
              </a:rPr>
              <a:t>Boucles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7A4A"/>
                </a:solidFill>
                <a:latin typeface="Helvetica Neue"/>
              </a:rPr>
              <a:t>69 – 89 €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F6F6F"/>
                </a:solidFill>
                <a:latin typeface="Helvetica Neue"/>
              </a:rPr>
              <a:t>Même technologie dans chaque bijou · abonnement 6,99 – 9,99 €/mois, sans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2700">
            <a:solidFill>
              <a:srgbClr val="B8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57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Georgia"/>
              </a:rPr>
              <a:t>JECA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7A4A"/>
                </a:solidFill>
                <a:latin typeface="Georgia"/>
              </a:rPr>
              <a:t>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45720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C7A4A"/>
                </a:solidFill>
                <a:latin typeface="Helvetica Neue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7A4A"/>
                </a:solidFill>
                <a:latin typeface="Helvetica Neue"/>
              </a:rPr>
              <a:t>STRATÉGIE — IA · SEO · 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0" cy="19050"/>
          </a:xfrm>
          <a:prstGeom prst="rect">
            <a:avLst/>
          </a:prstGeom>
          <a:solidFill>
            <a:srgbClr val="9C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520440" cy="4023360"/>
          </a:xfrm>
          <a:prstGeom prst="rect">
            <a:avLst/>
          </a:prstGeom>
          <a:solidFill>
            <a:srgbClr val="F3EFE8"/>
          </a:solidFill>
          <a:ln w="12700">
            <a:solidFill>
              <a:srgbClr val="E7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39"/>
            <a:ext cx="29718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9C7A4A"/>
                </a:solidFill>
                <a:latin typeface="Georgia"/>
              </a:rPr>
              <a:t>Les IA utilisées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Claude — site &amp; code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Canva — logo, visuels, film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ChatGPT — fiches &amp; SEO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Python — automatisation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→ vitesse ×10, zéro agence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3520440" cy="4023360"/>
          </a:xfrm>
          <a:prstGeom prst="rect">
            <a:avLst/>
          </a:prstGeom>
          <a:solidFill>
            <a:srgbClr val="F3EFE8"/>
          </a:solidFill>
          <a:ln w="12700">
            <a:solidFill>
              <a:srgbClr val="E7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39"/>
            <a:ext cx="29718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9C7A4A"/>
                </a:solidFill>
                <a:latin typeface="Georgia"/>
              </a:rPr>
              <a:t>SEO &amp; calendrier éditorial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Mots-clés « bracelet GPS enfant 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Balises meta optimisées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Blog : 1 article / semaine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Posts : rentrée, Noël, fêtes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520440" cy="4023360"/>
          </a:xfrm>
          <a:prstGeom prst="rect">
            <a:avLst/>
          </a:prstGeom>
          <a:solidFill>
            <a:srgbClr val="F3EFE8"/>
          </a:solidFill>
          <a:ln w="12700">
            <a:solidFill>
              <a:srgbClr val="E7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39"/>
            <a:ext cx="29718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9C7A4A"/>
                </a:solidFill>
                <a:latin typeface="Georgia"/>
              </a:rPr>
              <a:t>KPI &amp; tableau de bord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Taux de conversion — la boutique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CAC — l'acquisition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Rétention — l'abonnement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LTV — la valeur client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15240">
            <a:solidFill>
              <a:srgbClr val="9C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7" y="10058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23160"/>
            <a:ext cx="103628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JECA Jewelry transforme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l'inquiétude en sérénité.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30087" y="3794760"/>
            <a:ext cx="731520" cy="19050"/>
          </a:xfrm>
          <a:prstGeom prst="rect">
            <a:avLst/>
          </a:prstGeom>
          <a:solidFill>
            <a:srgbClr val="B8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289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900" b="0" i="1">
                <a:solidFill>
                  <a:srgbClr val="B89A6B"/>
                </a:solidFill>
                <a:latin typeface="Georgia"/>
              </a:rPr>
              <a:t>La sérénité se porte.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▸  jeca-site.vercel.app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9C4BA"/>
                </a:solidFill>
                <a:latin typeface="Helvetica Neue"/>
              </a:rPr>
              <a:t>Merci de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