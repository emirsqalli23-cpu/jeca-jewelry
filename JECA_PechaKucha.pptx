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JECA Jewelry, des bijoux connectés de géolocalisation pour enfants de 4 à 12 ans. Vingt images, vingt idées, cinq minutes. C'est parti.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point de départ est émotionnel : la peur de perdre son enfant de vue.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solutions existent mais ne sont pas portées : moches ou trop chères.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Notre choix produit : un bijou GPS. On part du besoin de sécurité mais on le rend désirable, car un dispositif n'est efficace que s'il est porté.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Sophie, mère active : sécurité sans culpabiliser.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Karim, parent célibataire : le SOS et le paiement en 3 fois le rassurent.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Inès, sensible au style : un vrai bijou, pas un gadget.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solution : d'abord un bijou désirable, la technologie est cachée à l'intérieur.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géolocalisation en temps réel, pilotée depuis l'application des parents.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fonctions clés : le bouton SOS et les zones de sécurité avec alerte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Données d'enfants hébergées en France, conformes RGPD.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familles, neuf modèles, or et argent, plus un abonnement de 7 à 10 euros par mois qui active la géolocalisation.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Notre plateforme : un site e-commerce codé sur mesure plutôt qu'un WiziShop, déployé sur Vercel, hébergé en France.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Côté construction : paiement Stripe avec 3 fois sans frais, livraison offerte dès 79 euros, CGV conformes au droit français avec rétractation de 14 jours, et conformité RGPD.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fiche produit applique les règles de conversion : SEO, visuels, avis, CTA clair.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Notre stratégie SEO repose sur des mots-clés précis comme bracelet GPS enfant, des balises meta optimisées et un blog. Le calendrier éditorial planifie un article par semaine et des posts alignés sur les temps forts : rentrée, Noël.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Quelles IA et en quoi elles ont aidé : Claude a codé tout le site, Canva a créé le logo, les visuels et le film, ChatGPT les textes et le SEO, Python a automatisé la production. Résultat : une vitesse multipliée par dix, sans budget d'agence.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Aucun concurrent ne réunit bijou désirable, GPS autonome et données en France.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Nos KPI : le taux de conversion mesure si la boutique transforme les visiteurs ; le coût d'acquisition, ou CAC, dit si la publicité est rentable ; la rétention des abonnés est le cœur de notre modèle récurrent ; et la valeur vie client, la LTV, ce que rapporte un client. On les suit dans un tableau de bord.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JECA Jewelry transforme l'inquiétude en sérénité. Le site est en ligne. Merci de votre 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254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327" y="868680"/>
            <a:ext cx="1463040" cy="1463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514600"/>
            <a:ext cx="103628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5800" b="1" i="0">
                <a:solidFill>
                  <a:srgbClr val="FFFFFF"/>
                </a:solidFill>
                <a:latin typeface="Helvetica Neue"/>
              </a:rPr>
              <a:t>JECA JEWELRY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1188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400" b="0" i="1">
                <a:solidFill>
                  <a:srgbClr val="E7C87A"/>
                </a:solidFill>
                <a:latin typeface="Georgia"/>
              </a:rPr>
              <a:t>La sérénité se porte.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36289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DDD8CE"/>
                </a:solidFill>
                <a:latin typeface="Helvetica Neue"/>
              </a:rPr>
              <a:t>Bijoux connectés de géolocalisation pour enfants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C9C4BA"/>
                </a:solidFill>
                <a:latin typeface="Helvetica Neue"/>
              </a:rPr>
              <a:t>Soutenance e-commerce · PechaKucha (20 × 20 s)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7C87A"/>
                </a:solidFill>
                <a:latin typeface="Helvetica Neue"/>
              </a:rPr>
              <a:t>jeca-site.vercel.app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822960" cy="38100"/>
          </a:xfrm>
          <a:prstGeom prst="rect">
            <a:avLst/>
          </a:prstGeom>
          <a:solidFill>
            <a:srgbClr val="E7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7C87A"/>
                </a:solidFill>
                <a:latin typeface="Helvetica Neue"/>
              </a:rPr>
              <a:t>JECA JEWELRY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80015" y="292608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9C4BA"/>
                </a:solidFill>
                <a:latin typeface="Helvetica Neue"/>
              </a:rPr>
              <a:t>02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7C87A"/>
                </a:solidFill>
                <a:latin typeface="Helvetica Neue"/>
              </a:rPr>
              <a:t>POURQUOI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10911535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« Chaque parent a connu cette peur. »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DDD8CE"/>
                </a:solidFill>
                <a:latin typeface="Helvetica Neue"/>
              </a:rPr>
              <a:t>Ces quelques secondes où l'on ne voit plus son enfant — un parc, une foule, la sortie de l'école.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822960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08D57"/>
                </a:solidFill>
                <a:latin typeface="Helvetica Neue"/>
              </a:rPr>
              <a:t>JECA JEWELRY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80015" y="292608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77777"/>
                </a:solidFill>
                <a:latin typeface="Helvetica Neue"/>
              </a:rPr>
              <a:t>03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08D57"/>
                </a:solidFill>
                <a:latin typeface="Helvetica Neue"/>
              </a:rPr>
              <a:t>LE PROBLÈME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10911535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4000" b="0" i="0">
                <a:solidFill>
                  <a:srgbClr val="141414"/>
                </a:solidFill>
                <a:latin typeface="Georgia"/>
              </a:rPr>
              <a:t>Les solutions actuelles finissent dans un tiroir.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444444"/>
                </a:solidFill>
                <a:latin typeface="Helvetica Neue"/>
              </a:rPr>
              <a:t>Balises GPS délaissées car peu esthétiques. Montres connectées trop chères et jugées « moches ».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08D57"/>
                </a:solidFill>
                <a:latin typeface="Helvetica Neue"/>
              </a:rPr>
              <a:t>JECA JEWELRY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80015" y="292608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77777"/>
                </a:solidFill>
                <a:latin typeface="Helvetica Neue"/>
              </a:rPr>
              <a:t>04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08D57"/>
                </a:solidFill>
                <a:latin typeface="Helvetica Neue"/>
              </a:rPr>
              <a:t>LE CHOIX DU PRODUIT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852160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3200" b="0" i="0">
                <a:solidFill>
                  <a:srgbClr val="141414"/>
                </a:solidFill>
                <a:latin typeface="Georgia"/>
              </a:rPr>
              <a:t>Pourquoi un bijou GPS ?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444444"/>
                </a:solidFill>
                <a:latin typeface="Helvetica Neue"/>
              </a:rPr>
              <a:t>Nous croisons deux besoins : la sécurité… et la désirabilité.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444444"/>
                </a:solidFill>
                <a:latin typeface="Helvetica Neue"/>
              </a:rPr>
              <a:t>Un objet qu'on porte par envie protège vraiment.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444444"/>
                </a:solidFill>
                <a:latin typeface="Helvetica Neue"/>
              </a:rPr>
              <a:t>Marché porteur, peu sensible au prix : la sécurité d'un enfant.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62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08D57"/>
                </a:solidFill>
                <a:latin typeface="Helvetica Neue"/>
              </a:rPr>
              <a:t>JECA JEWELRY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80015" y="292608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77777"/>
                </a:solidFill>
                <a:latin typeface="Helvetica Neue"/>
              </a:rPr>
              <a:t>05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08D57"/>
                </a:solidFill>
                <a:latin typeface="Helvetica Neue"/>
              </a:rPr>
              <a:t>POUR QUI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329184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0" b="1" i="0">
                <a:solidFill>
                  <a:srgbClr val="E7C87A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011680"/>
            <a:ext cx="694944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0" i="0">
                <a:solidFill>
                  <a:srgbClr val="141414"/>
                </a:solidFill>
                <a:latin typeface="Georgia"/>
              </a:rPr>
              <a:t>Sophie, 38 ans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600" b="1" i="0">
                <a:solidFill>
                  <a:srgbClr val="B08D57"/>
                </a:solidFill>
                <a:latin typeface="Helvetica Neue"/>
              </a:rPr>
              <a:t>Mère active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444444"/>
                </a:solidFill>
                <a:latin typeface="Helvetica Neue"/>
              </a:rPr>
              <a:t>Veut savoir où sont ses enfants sans culpabiliser de travailler.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62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08D57"/>
                </a:solidFill>
                <a:latin typeface="Helvetica Neue"/>
              </a:rPr>
              <a:t>JECA JEWELRY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80015" y="292608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77777"/>
                </a:solidFill>
                <a:latin typeface="Helvetica Neue"/>
              </a:rPr>
              <a:t>06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08D57"/>
                </a:solidFill>
                <a:latin typeface="Helvetica Neue"/>
              </a:rPr>
              <a:t>POUR QUI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329184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0" b="1" i="0">
                <a:solidFill>
                  <a:srgbClr val="E7C87A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011680"/>
            <a:ext cx="694944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0" i="0">
                <a:solidFill>
                  <a:srgbClr val="141414"/>
                </a:solidFill>
                <a:latin typeface="Georgia"/>
              </a:rPr>
              <a:t>Karim, 42 ans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600" b="1" i="0">
                <a:solidFill>
                  <a:srgbClr val="B08D57"/>
                </a:solidFill>
                <a:latin typeface="Helvetica Neue"/>
              </a:rPr>
              <a:t>Parent célibataire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444444"/>
                </a:solidFill>
                <a:latin typeface="Helvetica Neue"/>
              </a:rPr>
              <a:t>Budget serré, métier mobile. Le SOS et le paiement 3× le rassurent.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62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08D57"/>
                </a:solidFill>
                <a:latin typeface="Helvetica Neue"/>
              </a:rPr>
              <a:t>JECA JEWELRY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80015" y="292608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77777"/>
                </a:solidFill>
                <a:latin typeface="Helvetica Neue"/>
              </a:rPr>
              <a:t>07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08D57"/>
                </a:solidFill>
                <a:latin typeface="Helvetica Neue"/>
              </a:rPr>
              <a:t>POUR QUI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329184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0" b="1" i="0">
                <a:solidFill>
                  <a:srgbClr val="E7C87A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011680"/>
            <a:ext cx="694944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0" i="0">
                <a:solidFill>
                  <a:srgbClr val="141414"/>
                </a:solidFill>
                <a:latin typeface="Georgia"/>
              </a:rPr>
              <a:t>Inès, 36 ans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600" b="1" i="0">
                <a:solidFill>
                  <a:srgbClr val="B08D57"/>
                </a:solidFill>
                <a:latin typeface="Helvetica Neue"/>
              </a:rPr>
              <a:t>Sensible au style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444444"/>
                </a:solidFill>
                <a:latin typeface="Helvetica Neue"/>
              </a:rPr>
              <a:t>Refuse les montres « gadget ». Veut un vrai bijou pour sa fille.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7C87A"/>
                </a:solidFill>
                <a:latin typeface="Helvetica Neue"/>
              </a:rPr>
              <a:t>JECA JEWELRY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80015" y="292608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9C4BA"/>
                </a:solidFill>
                <a:latin typeface="Helvetica Neue"/>
              </a:rPr>
              <a:t>08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7C87A"/>
                </a:solidFill>
                <a:latin typeface="Helvetica Neue"/>
              </a:rPr>
              <a:t>COMMENT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9448495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Un vrai bijou, d'abord.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DDD8CE"/>
                </a:solidFill>
                <a:latin typeface="Helvetica Neue"/>
              </a:rPr>
              <a:t>Bracelet, collier ou boucles. Or ou argent. Que l'enfant porte par envie.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7C87A"/>
                </a:solidFill>
                <a:latin typeface="Helvetica Neue"/>
              </a:rPr>
              <a:t>JECA JEWELRY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80015" y="292608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9C4BA"/>
                </a:solidFill>
                <a:latin typeface="Helvetica Neue"/>
              </a:rPr>
              <a:t>09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7C87A"/>
                </a:solidFill>
                <a:latin typeface="Helvetica Neue"/>
              </a:rPr>
              <a:t>COMMENT · GÉOLOCALISATION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9448495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Sa position, en temps réel.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DDD8CE"/>
                </a:solidFill>
                <a:latin typeface="Helvetica Neue"/>
              </a:rPr>
              <a:t>Précision urbaine de 5 mètres, mise à jour toutes les 30 secondes, depuis l'app des parents.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7C87A"/>
                </a:solidFill>
                <a:latin typeface="Helvetica Neue"/>
              </a:rPr>
              <a:t>JECA JEWELRY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80015" y="292608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9C4BA"/>
                </a:solidFill>
                <a:latin typeface="Helvetica Neue"/>
              </a:rPr>
              <a:t>10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7C87A"/>
                </a:solidFill>
                <a:latin typeface="Helvetica Neue"/>
              </a:rPr>
              <a:t>COMMENT · SOS &amp; ZONES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1371600"/>
            <a:ext cx="5852160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3200" b="0" i="0">
                <a:solidFill>
                  <a:srgbClr val="FFFFFF"/>
                </a:solidFill>
                <a:latin typeface="Georgia"/>
              </a:rPr>
              <a:t>Le SOS au poignet. La zone qui veille.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DDD8CE"/>
                </a:solidFill>
                <a:latin typeface="Helvetica Neue"/>
              </a:rPr>
              <a:t>Bouton SOS : l'enfant alerte d'une pression.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DDD8CE"/>
                </a:solidFill>
                <a:latin typeface="Helvetica Neue"/>
              </a:rPr>
              <a:t>Zones de sécurité : alerte s'il quitte l'école.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DDD8CE"/>
                </a:solidFill>
                <a:latin typeface="Helvetica Neue"/>
              </a:rPr>
              <a:t>La protection qui veille en silence.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822960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08D57"/>
                </a:solidFill>
                <a:latin typeface="Helvetica Neue"/>
              </a:rPr>
              <a:t>JECA JEWELRY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80015" y="292608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77777"/>
                </a:solidFill>
                <a:latin typeface="Helvetica Neue"/>
              </a:rPr>
              <a:t>11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08D57"/>
                </a:solidFill>
                <a:latin typeface="Helvetica Neue"/>
              </a:rPr>
              <a:t>CONFIANCE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10911535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4000" b="0" i="0">
                <a:solidFill>
                  <a:srgbClr val="141414"/>
                </a:solidFill>
                <a:latin typeface="Georgia"/>
              </a:rPr>
              <a:t>Des données d'enfants qui restent en France.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444444"/>
                </a:solidFill>
                <a:latin typeface="Helvetica Neue"/>
              </a:rPr>
              <a:t>Conçu, assemblé et hébergé en France. Chiffré, conforme RGPD. La confiance n'est pas négociable.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08D57"/>
                </a:solidFill>
                <a:latin typeface="Helvetica Neue"/>
              </a:rPr>
              <a:t>JECA JEWELRY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80015" y="292608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77777"/>
                </a:solidFill>
                <a:latin typeface="Helvetica Neue"/>
              </a:rPr>
              <a:t>12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08D57"/>
                </a:solidFill>
                <a:latin typeface="Helvetica Neue"/>
              </a:rPr>
              <a:t>LE PRODUIT · LA GAMME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0" i="0">
                <a:solidFill>
                  <a:srgbClr val="141414"/>
                </a:solidFill>
                <a:latin typeface="Georgia"/>
              </a:rPr>
              <a:t>Trois familles · or &amp; argent · + abonnement</a:t>
            </a:r>
          </a:p>
        </p:txBody>
      </p:sp>
      <p:pic>
        <p:nvPicPr>
          <p:cNvPr id="7" name="Picture 6" descr="c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65960"/>
            <a:ext cx="3454298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001768"/>
            <a:ext cx="345429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41414"/>
                </a:solidFill>
                <a:latin typeface="Georgia"/>
              </a:rPr>
              <a:t>Bracelets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B08D57"/>
                </a:solidFill>
                <a:latin typeface="Helvetica Neue"/>
              </a:rPr>
              <a:t>79 – 99 €</a:t>
            </a:r>
          </a:p>
        </p:txBody>
      </p:sp>
      <p:pic>
        <p:nvPicPr>
          <p:cNvPr id="9" name="Picture 8" descr="c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8698" y="1965960"/>
            <a:ext cx="3454298" cy="2926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68698" y="5001768"/>
            <a:ext cx="345429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41414"/>
                </a:solidFill>
                <a:latin typeface="Georgia"/>
              </a:rPr>
              <a:t>Colliers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B08D57"/>
                </a:solidFill>
                <a:latin typeface="Helvetica Neue"/>
              </a:rPr>
              <a:t>89 – 109 €</a:t>
            </a:r>
          </a:p>
        </p:txBody>
      </p:sp>
      <p:pic>
        <p:nvPicPr>
          <p:cNvPr id="11" name="Picture 10" descr="c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4476" y="1965960"/>
            <a:ext cx="3454298" cy="2926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34476" y="5001768"/>
            <a:ext cx="345429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41414"/>
                </a:solidFill>
                <a:latin typeface="Georgia"/>
              </a:rPr>
              <a:t>Boucles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B08D57"/>
                </a:solidFill>
                <a:latin typeface="Helvetica Neue"/>
              </a:rPr>
              <a:t>69 – 89 €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08D57"/>
                </a:solidFill>
                <a:latin typeface="Helvetica Neue"/>
              </a:rPr>
              <a:t>JECA JEWELRY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80015" y="292608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77777"/>
                </a:solidFill>
                <a:latin typeface="Helvetica Neue"/>
              </a:rPr>
              <a:t>13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08D57"/>
                </a:solidFill>
                <a:latin typeface="Helvetica Neue"/>
              </a:rPr>
              <a:t>E-COMMERCE · LA PLATEFORME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852160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3200" b="0" i="0">
                <a:solidFill>
                  <a:srgbClr val="141414"/>
                </a:solidFill>
                <a:latin typeface="Georgia"/>
              </a:rPr>
              <a:t>Une boutique sur-mesure.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444444"/>
                </a:solidFill>
                <a:latin typeface="Helvetica Neue"/>
              </a:rPr>
              <a:t>Pas de WiziShop : un site codé sur-mesure (HTML/CSS/JS).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444444"/>
                </a:solidFill>
                <a:latin typeface="Helvetica Neue"/>
              </a:rPr>
              <a:t>14 pages, panier, responsive, rapide.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444444"/>
                </a:solidFill>
                <a:latin typeface="Helvetica Neue"/>
              </a:rPr>
              <a:t>Déployée sur Vercel, hébergée en France.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822960" cy="38100"/>
          </a:xfrm>
          <a:prstGeom prst="rect">
            <a:avLst/>
          </a:prstGeom>
          <a:solidFill>
            <a:srgbClr val="E7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7C87A"/>
                </a:solidFill>
                <a:latin typeface="Helvetica Neue"/>
              </a:rPr>
              <a:t>JECA JEWELRY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80015" y="292608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9C4BA"/>
                </a:solidFill>
                <a:latin typeface="Helvetica Neue"/>
              </a:rPr>
              <a:t>14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7C87A"/>
                </a:solidFill>
                <a:latin typeface="Helvetica Neue"/>
              </a:rPr>
              <a:t>E-COMMERCE · PAIEMENT, LIVRAISON &amp; CGV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091153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Georgia"/>
              </a:rPr>
              <a:t>Sécurisé et conforme.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43200"/>
            <a:ext cx="10911535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800"/>
              </a:spcBef>
              <a:spcAft>
                <a:spcPts val="100"/>
              </a:spcAft>
            </a:pPr>
            <a:r>
              <a:rPr sz="1800" b="1" i="0">
                <a:solidFill>
                  <a:srgbClr val="E7C87A"/>
                </a:solidFill>
                <a:latin typeface="Helvetica Neue"/>
              </a:rPr>
              <a:t>Paiement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DDD8CE"/>
                </a:solidFill>
                <a:latin typeface="Helvetica Neue"/>
              </a:rPr>
              <a:t>Stripe sécurisé, CB + paiement 3× sans frais, HTTPS.</a:t>
            </a:r>
          </a:p>
          <a:p>
            <a:pPr algn="l">
              <a:spcBef>
                <a:spcPts val="800"/>
              </a:spcBef>
              <a:spcAft>
                <a:spcPts val="100"/>
              </a:spcAft>
            </a:pPr>
            <a:r>
              <a:rPr sz="1800" b="1" i="0">
                <a:solidFill>
                  <a:srgbClr val="E7C87A"/>
                </a:solidFill>
                <a:latin typeface="Helvetica Neue"/>
              </a:rPr>
              <a:t>Livraison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DDD8CE"/>
                </a:solidFill>
                <a:latin typeface="Helvetica Neue"/>
              </a:rPr>
              <a:t>72 h, offerte dès 79 €, suivi colis.</a:t>
            </a:r>
          </a:p>
          <a:p>
            <a:pPr algn="l">
              <a:spcBef>
                <a:spcPts val="800"/>
              </a:spcBef>
              <a:spcAft>
                <a:spcPts val="100"/>
              </a:spcAft>
            </a:pPr>
            <a:r>
              <a:rPr sz="1800" b="1" i="0">
                <a:solidFill>
                  <a:srgbClr val="E7C87A"/>
                </a:solidFill>
                <a:latin typeface="Helvetica Neue"/>
              </a:rPr>
              <a:t>CGV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DDD8CE"/>
                </a:solidFill>
                <a:latin typeface="Helvetica Neue"/>
              </a:rPr>
              <a:t>Rétractation 14 j (loi Hamon), garantie légale 2 ans, retours.</a:t>
            </a:r>
          </a:p>
          <a:p>
            <a:pPr algn="l">
              <a:spcBef>
                <a:spcPts val="800"/>
              </a:spcBef>
              <a:spcAft>
                <a:spcPts val="100"/>
              </a:spcAft>
            </a:pPr>
            <a:r>
              <a:rPr sz="1800" b="1" i="0">
                <a:solidFill>
                  <a:srgbClr val="E7C87A"/>
                </a:solidFill>
                <a:latin typeface="Helvetica Neue"/>
              </a:rPr>
              <a:t>RGPD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DDD8CE"/>
                </a:solidFill>
                <a:latin typeface="Helvetica Neue"/>
              </a:rPr>
              <a:t>Bandeau cookies, politique de confidentialité, mentions légales.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08D57"/>
                </a:solidFill>
                <a:latin typeface="Helvetica Neue"/>
              </a:rPr>
              <a:t>JECA JEWELRY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80015" y="292608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77777"/>
                </a:solidFill>
                <a:latin typeface="Helvetica Neue"/>
              </a:rPr>
              <a:t>15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08D57"/>
                </a:solidFill>
                <a:latin typeface="Helvetica Neue"/>
              </a:rPr>
              <a:t>UX · LA FICHE PRODUIT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1371600"/>
            <a:ext cx="5852160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3200" b="0" i="0">
                <a:solidFill>
                  <a:srgbClr val="141414"/>
                </a:solidFill>
                <a:latin typeface="Georgia"/>
              </a:rPr>
              <a:t>Pensée pour convertir.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444444"/>
                </a:solidFill>
                <a:latin typeface="Helvetica Neue"/>
              </a:rPr>
              <a:t>Titre SEO + galerie multi-vues + zoom.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444444"/>
                </a:solidFill>
                <a:latin typeface="Helvetica Neue"/>
              </a:rPr>
              <a:t>Prix, réassurance, CTA sans scroll.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444444"/>
                </a:solidFill>
                <a:latin typeface="Helvetica Neue"/>
              </a:rPr>
              <a:t>Avis 4,9/5 et « vous aimerez aussi 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822960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08D57"/>
                </a:solidFill>
                <a:latin typeface="Helvetica Neue"/>
              </a:rPr>
              <a:t>JECA JEWELRY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80015" y="292608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77777"/>
                </a:solidFill>
                <a:latin typeface="Helvetica Neue"/>
              </a:rPr>
              <a:t>16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08D57"/>
                </a:solidFill>
                <a:latin typeface="Helvetica Neue"/>
              </a:rPr>
              <a:t>SEO &amp; CALENDRIER ÉDITORIAL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091153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0" i="0">
                <a:solidFill>
                  <a:srgbClr val="141414"/>
                </a:solidFill>
                <a:latin typeface="Georgia"/>
              </a:rPr>
              <a:t>Être trouvé, gratuitement.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43200"/>
            <a:ext cx="10911535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800"/>
              </a:spcBef>
              <a:spcAft>
                <a:spcPts val="100"/>
              </a:spcAft>
            </a:pPr>
            <a:r>
              <a:rPr sz="1800" b="1" i="0">
                <a:solidFill>
                  <a:srgbClr val="B08D57"/>
                </a:solidFill>
                <a:latin typeface="Helvetica Neue"/>
              </a:rPr>
              <a:t>Mots-clés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444444"/>
                </a:solidFill>
                <a:latin typeface="Helvetica Neue"/>
              </a:rPr>
              <a:t>« bracelet GPS enfant », « bijou géolocalisation enfant ».</a:t>
            </a:r>
          </a:p>
          <a:p>
            <a:pPr algn="l">
              <a:spcBef>
                <a:spcPts val="800"/>
              </a:spcBef>
              <a:spcAft>
                <a:spcPts val="100"/>
              </a:spcAft>
            </a:pPr>
            <a:r>
              <a:rPr sz="1800" b="1" i="0">
                <a:solidFill>
                  <a:srgbClr val="B08D57"/>
                </a:solidFill>
                <a:latin typeface="Helvetica Neue"/>
              </a:rPr>
              <a:t>On-page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444444"/>
                </a:solidFill>
                <a:latin typeface="Helvetica Neue"/>
              </a:rPr>
              <a:t>balises meta title/description, titres Hn, contenu riche.</a:t>
            </a:r>
          </a:p>
          <a:p>
            <a:pPr algn="l">
              <a:spcBef>
                <a:spcPts val="800"/>
              </a:spcBef>
              <a:spcAft>
                <a:spcPts val="100"/>
              </a:spcAft>
            </a:pPr>
            <a:r>
              <a:rPr sz="1800" b="1" i="0">
                <a:solidFill>
                  <a:srgbClr val="B08D57"/>
                </a:solidFill>
                <a:latin typeface="Helvetica Neue"/>
              </a:rPr>
              <a:t>Contenu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444444"/>
                </a:solidFill>
                <a:latin typeface="Helvetica Neue"/>
              </a:rPr>
              <a:t>blog parentalité &amp; sécurité — 1 article / semaine.</a:t>
            </a:r>
          </a:p>
          <a:p>
            <a:pPr algn="l">
              <a:spcBef>
                <a:spcPts val="800"/>
              </a:spcBef>
              <a:spcAft>
                <a:spcPts val="100"/>
              </a:spcAft>
            </a:pPr>
            <a:r>
              <a:rPr sz="1800" b="1" i="0">
                <a:solidFill>
                  <a:srgbClr val="B08D57"/>
                </a:solidFill>
                <a:latin typeface="Helvetica Neue"/>
              </a:rPr>
              <a:t>Calendrier éditorial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444444"/>
                </a:solidFill>
                <a:latin typeface="Helvetica Neue"/>
              </a:rPr>
              <a:t>posts Insta/TikTok, temps forts : rentrée, Noël, fête des mères.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822960" cy="38100"/>
          </a:xfrm>
          <a:prstGeom prst="rect">
            <a:avLst/>
          </a:prstGeom>
          <a:solidFill>
            <a:srgbClr val="E7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7C87A"/>
                </a:solidFill>
                <a:latin typeface="Helvetica Neue"/>
              </a:rPr>
              <a:t>JECA JEWELRY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80015" y="292608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9C4BA"/>
                </a:solidFill>
                <a:latin typeface="Helvetica Neue"/>
              </a:rPr>
              <a:t>17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7C87A"/>
                </a:solidFill>
                <a:latin typeface="Helvetica Neue"/>
              </a:rPr>
              <a:t>LES IA UTILISÉES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091153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Georgia"/>
              </a:rPr>
              <a:t>Construit de A à Z avec l'IA.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43200"/>
            <a:ext cx="10911535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800"/>
              </a:spcBef>
              <a:spcAft>
                <a:spcPts val="100"/>
              </a:spcAft>
            </a:pPr>
            <a:r>
              <a:rPr sz="1800" b="1" i="0">
                <a:solidFill>
                  <a:srgbClr val="E7C87A"/>
                </a:solidFill>
                <a:latin typeface="Helvetica Neue"/>
              </a:rPr>
              <a:t>Claude (Anthropic)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DDD8CE"/>
                </a:solidFill>
                <a:latin typeface="Helvetica Neue"/>
              </a:rPr>
              <a:t>tout le site, le code, le panier, l'intégration Stripe, le déploiement.</a:t>
            </a:r>
          </a:p>
          <a:p>
            <a:pPr algn="l">
              <a:spcBef>
                <a:spcPts val="800"/>
              </a:spcBef>
              <a:spcAft>
                <a:spcPts val="100"/>
              </a:spcAft>
            </a:pPr>
            <a:r>
              <a:rPr sz="1800" b="1" i="0">
                <a:solidFill>
                  <a:srgbClr val="E7C87A"/>
                </a:solidFill>
                <a:latin typeface="Helvetica Neue"/>
              </a:rPr>
              <a:t>Canva IA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DDD8CE"/>
                </a:solidFill>
                <a:latin typeface="Helvetica Neue"/>
              </a:rPr>
              <a:t>le logo, les visuels produit (or &amp; argent) et le film publicitaire.</a:t>
            </a:r>
          </a:p>
          <a:p>
            <a:pPr algn="l">
              <a:spcBef>
                <a:spcPts val="800"/>
              </a:spcBef>
              <a:spcAft>
                <a:spcPts val="100"/>
              </a:spcAft>
            </a:pPr>
            <a:r>
              <a:rPr sz="1800" b="1" i="0">
                <a:solidFill>
                  <a:srgbClr val="E7C87A"/>
                </a:solidFill>
                <a:latin typeface="Helvetica Neue"/>
              </a:rPr>
              <a:t>ChatGPT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DDD8CE"/>
                </a:solidFill>
                <a:latin typeface="Helvetica Neue"/>
              </a:rPr>
              <a:t>fiches produit, textes SEO, balises meta, CGV, personas.</a:t>
            </a:r>
          </a:p>
          <a:p>
            <a:pPr algn="l">
              <a:spcBef>
                <a:spcPts val="800"/>
              </a:spcBef>
              <a:spcAft>
                <a:spcPts val="100"/>
              </a:spcAft>
            </a:pPr>
            <a:r>
              <a:rPr sz="1800" b="1" i="0">
                <a:solidFill>
                  <a:srgbClr val="E7C87A"/>
                </a:solidFill>
                <a:latin typeface="Helvetica Neue"/>
              </a:rPr>
              <a:t>Python + Perplexity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DDD8CE"/>
                </a:solidFill>
                <a:latin typeface="Helvetica Neue"/>
              </a:rPr>
              <a:t>automatisation des supports &amp; veille marché. → vitesse ×10, zéro budget agence.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417320"/>
            <a:ext cx="822960" cy="38100"/>
          </a:xfrm>
          <a:prstGeom prst="rect">
            <a:avLst/>
          </a:prstGeom>
          <a:solidFill>
            <a:srgbClr val="E7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7C87A"/>
                </a:solidFill>
                <a:latin typeface="Helvetica Neue"/>
              </a:rPr>
              <a:t>JECA JEWELRY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80015" y="292608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9C4BA"/>
                </a:solidFill>
                <a:latin typeface="Helvetica Neue"/>
              </a:rPr>
              <a:t>18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7C87A"/>
                </a:solidFill>
                <a:latin typeface="Helvetica Neue"/>
              </a:rPr>
              <a:t>LA CONCURRENCE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10911535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Personne n'occupe notre place.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DDD8CE"/>
                </a:solidFill>
                <a:latin typeface="Helvetica Neue"/>
              </a:rPr>
              <a:t>Weenect : une balise qu'on oublie. Xplora : une montre encombrante. AngelSense : un boîtier médicalisé. JECA : le seul vrai bijou + GPS + données en France.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7C87A"/>
                </a:solidFill>
                <a:latin typeface="Helvetica Neue"/>
              </a:rPr>
              <a:t>JECA JEWELRY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80015" y="292608"/>
            <a:ext cx="1508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9C4BA"/>
                </a:solidFill>
                <a:latin typeface="Helvetica Neue"/>
              </a:rPr>
              <a:t>19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7C87A"/>
                </a:solidFill>
                <a:latin typeface="Helvetica Neue"/>
              </a:rPr>
              <a:t>DATA · KPI &amp; TABLEAU DE BORD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822960" cy="38100"/>
          </a:xfrm>
          <a:prstGeom prst="rect">
            <a:avLst/>
          </a:prstGeom>
          <a:solidFill>
            <a:srgbClr val="E7C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200" b="0" i="0">
                <a:solidFill>
                  <a:srgbClr val="FFFFFF"/>
                </a:solidFill>
                <a:latin typeface="Georgia"/>
              </a:rPr>
              <a:t>Les indicateurs que nous suivons — et pourquoi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017520"/>
            <a:ext cx="2522143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E7C87A"/>
                </a:solidFill>
                <a:latin typeface="Georgia"/>
              </a:rPr>
              <a:t>Taux de conversion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CFD6E0"/>
                </a:solidFill>
                <a:latin typeface="Helvetica Neue"/>
              </a:rPr>
              <a:t>santé de la boutique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0823" y="3017520"/>
            <a:ext cx="2522143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E7C87A"/>
                </a:solidFill>
                <a:latin typeface="Georgia"/>
              </a:rPr>
              <a:t>CAC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CFD6E0"/>
                </a:solidFill>
                <a:latin typeface="Helvetica Neue"/>
              </a:rPr>
              <a:t>rentabilité de l'acquisition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3017520"/>
            <a:ext cx="2522143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E7C87A"/>
                </a:solidFill>
                <a:latin typeface="Georgia"/>
              </a:rPr>
              <a:t>Rétention abonnés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CFD6E0"/>
                </a:solidFill>
                <a:latin typeface="Helvetica Neue"/>
              </a:rPr>
              <a:t>cœur du modèle récurrent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66631" y="3017520"/>
            <a:ext cx="2522143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E7C87A"/>
                </a:solidFill>
                <a:latin typeface="Georgia"/>
              </a:rPr>
              <a:t>LTV / panier moyen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CFD6E0"/>
                </a:solidFill>
                <a:latin typeface="Helvetica Neue"/>
              </a:rPr>
              <a:t>valeur d'un client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669280"/>
            <a:ext cx="111858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DDD8CE"/>
                </a:solidFill>
                <a:latin typeface="Helvetica Neue"/>
              </a:rPr>
              <a:t>Choix justifié : conversion = la boutique convertit-elle ? · CAC vs LTV = acquisition rentable ? · rétention = l'abonnement tient-il 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254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487" y="914400"/>
            <a:ext cx="1188720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377440"/>
            <a:ext cx="103628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200" b="0" i="0">
                <a:solidFill>
                  <a:srgbClr val="FFFFFF"/>
                </a:solidFill>
                <a:latin typeface="Georgia"/>
              </a:rPr>
              <a:t>JECA Jewelry transforme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3200" b="0" i="0">
                <a:solidFill>
                  <a:srgbClr val="FFFFFF"/>
                </a:solidFill>
                <a:latin typeface="Georgia"/>
              </a:rPr>
              <a:t>l'inquiétude en sérénité.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362895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2000" b="0" i="1">
                <a:solidFill>
                  <a:srgbClr val="E7C87A"/>
                </a:solidFill>
                <a:latin typeface="Georgia"/>
              </a:rPr>
              <a:t>La sérénité se porte.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</a:rPr>
              <a:t>jeca-site.vercel.app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9C4BA"/>
                </a:solidFill>
                <a:latin typeface="Helvetica Neue"/>
              </a:rPr>
              <a:t>Merci de votre attention.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