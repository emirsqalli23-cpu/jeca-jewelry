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JECA Jewelry : des bijoux connectés de géolocalisation pour enfants de 4 à 12 ans. Notre promesse, la sérénité se porte. Vingt images, vingt idées. C'est parti.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de départ est émotionnel : tout parent a vécu ces secondes de panique où il ne voit plus son enfant.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solutions existent mais échouent : balises moches qu'on ne porte pas, montres trop chères.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Notre conviction fondatrice : la sécurité ne sert à rien si l'objet finit dans un tiroir.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Sophie, mère active : concilier carrière et sécurité sans culpabiliser.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Karim, parent célibataire au budget serré : le SOS et le paiement en 3 fois le rassurent.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Inès, sensible au style : elle veut un vrai bijou, pas un gadget.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Notre solution renverse la logique : on part du bijou désirable, pas de la technologie.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fonction : la géolocalisation en temps réel, pilotée depuis l'application des parents.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bouton SOS : l'enfant alerte ses parents d'une simple 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zones de sécurité : une alerte automatique dès que l'enfant entre ou sort d'une zone.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Parce qu'on parle d'enfants : tout est hébergé en France, conforme RGPD.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familles, neuf modèles, en or et en argent. La même technologie dans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Aucun concurrent ne réunit bijou désirable, GPS autonome et souveraineté des données. C'est notre barrière.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boutique n'est pas une maquette : elle est en ligne, accessible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fiche produit applique toutes les règles de conversion : SEO, visuels, avis, CTA clair.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Tout a été construit avec l'IA : Claude pour le code, Canva pour les visuels et le film, Python pour l'automatisation.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Modèle hybride : la vente du bijou plus un abonnement récurrent qui finance la géolocalisation.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 des hypothèses prudentes : rentable dès l'année 1, et l'abonnement porte la marge à près de 29 % en trois 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JECA Jewelry transforme l'inquiétude en sérénité. Le site est en ligne, je vous invite à le visiter. Merci de votre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254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27" y="86868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51460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Helvetica Neue"/>
              </a:rPr>
              <a:t>JECA JEWELRY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0" i="1">
                <a:solidFill>
                  <a:srgbClr val="E7C87A"/>
                </a:solidFill>
                <a:latin typeface="Georgia"/>
              </a:rPr>
              <a:t>La sérénité se porte.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E8E2D6"/>
                </a:solidFill>
                <a:latin typeface="Helvetica Neue"/>
              </a:rPr>
              <a:t>Bijoux connectés de géolocalisation pour enfants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9C4BA"/>
                </a:solidFill>
                <a:latin typeface="Helvetica Neue"/>
              </a:rPr>
              <a:t>Soutenance e-commerce · format PechaKucha (20 × 20 s)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7C87A"/>
                </a:solidFill>
                <a:latin typeface="Helvetica Neue"/>
              </a:rPr>
              <a:t>jeca-site.vercel.app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822960" cy="38100"/>
          </a:xfrm>
          <a:prstGeom prst="rect">
            <a:avLst/>
          </a:prstGeom>
          <a:solidFill>
            <a:srgbClr val="E7C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7C87A"/>
                </a:solidFill>
                <a:latin typeface="Helvetica Neue"/>
              </a:rPr>
              <a:t>JECA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C4BA"/>
                </a:solidFill>
                <a:latin typeface="Helvetica Neue"/>
              </a:rPr>
              <a:t>02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7C87A"/>
                </a:solidFill>
                <a:latin typeface="Helvetica Neue"/>
              </a:rPr>
              <a:t>POURQUOI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091153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« Chaque parent a connu cette peur. »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9C4BA"/>
                </a:solidFill>
                <a:latin typeface="Helvetica Neue"/>
              </a:rPr>
              <a:t>Ces quelques secondes où l'on ne voit plus son enfant — un parc, une foule, la sortie de l'école.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822960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08D57"/>
                </a:solidFill>
                <a:latin typeface="Helvetica Neue"/>
              </a:rPr>
              <a:t>JECA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77777"/>
                </a:solidFill>
                <a:latin typeface="Helvetica Neue"/>
              </a:rPr>
              <a:t>03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08D57"/>
                </a:solidFill>
                <a:latin typeface="Helvetica Neue"/>
              </a:rPr>
              <a:t>LE PROBLÈME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091153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0" i="0">
                <a:solidFill>
                  <a:srgbClr val="141414"/>
                </a:solidFill>
                <a:latin typeface="Georgia"/>
              </a:rPr>
              <a:t>Les solutions actuelles finissent dans un tiroir.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777777"/>
                </a:solidFill>
                <a:latin typeface="Helvetica Neue"/>
              </a:rPr>
              <a:t>Balises GPS délaissées car peu esthétiques. Montres connectées trop chères et jugées « moches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822960" cy="38100"/>
          </a:xfrm>
          <a:prstGeom prst="rect">
            <a:avLst/>
          </a:prstGeom>
          <a:solidFill>
            <a:srgbClr val="E7C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7C87A"/>
                </a:solidFill>
                <a:latin typeface="Helvetica Neue"/>
              </a:rPr>
              <a:t>JECA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C4BA"/>
                </a:solidFill>
                <a:latin typeface="Helvetica Neue"/>
              </a:rPr>
              <a:t>04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7C87A"/>
                </a:solidFill>
                <a:latin typeface="Helvetica Neue"/>
              </a:rPr>
              <a:t>L'INSIGHT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091153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Un dispositif n'est efficace que s'il est porté.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9C4BA"/>
                </a:solidFill>
                <a:latin typeface="Helvetica Neue"/>
              </a:rPr>
              <a:t>Et il n'est porté que s'il est désirable. Toute notre démarche part de là.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08D57"/>
                </a:solidFill>
                <a:latin typeface="Helvetica Neue"/>
              </a:rPr>
              <a:t>JECA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77777"/>
                </a:solidFill>
                <a:latin typeface="Helvetica Neue"/>
              </a:rPr>
              <a:t>05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08D57"/>
                </a:solidFill>
                <a:latin typeface="Helvetica Neue"/>
              </a:rPr>
              <a:t>POUR QUI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329184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0" b="1" i="0">
                <a:solidFill>
                  <a:srgbClr val="E7C87A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69494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0" i="0">
                <a:solidFill>
                  <a:srgbClr val="141414"/>
                </a:solidFill>
                <a:latin typeface="Georgia"/>
              </a:rPr>
              <a:t>Sophie, 38 ans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600" b="1" i="0">
                <a:solidFill>
                  <a:srgbClr val="B08D57"/>
                </a:solidFill>
                <a:latin typeface="Helvetica Neue"/>
              </a:rPr>
              <a:t>Mère active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444444"/>
                </a:solidFill>
                <a:latin typeface="Helvetica Neue"/>
              </a:rPr>
              <a:t>Veut savoir où sont ses enfants sans culpabiliser de travailler. Achète sur Instagram et Google.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08D57"/>
                </a:solidFill>
                <a:latin typeface="Helvetica Neue"/>
              </a:rPr>
              <a:t>JECA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77777"/>
                </a:solidFill>
                <a:latin typeface="Helvetica Neue"/>
              </a:rPr>
              <a:t>06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08D57"/>
                </a:solidFill>
                <a:latin typeface="Helvetica Neue"/>
              </a:rPr>
              <a:t>POUR QUI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329184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0" b="1" i="0">
                <a:solidFill>
                  <a:srgbClr val="E7C87A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69494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0" i="0">
                <a:solidFill>
                  <a:srgbClr val="141414"/>
                </a:solidFill>
                <a:latin typeface="Georgia"/>
              </a:rPr>
              <a:t>Karim, 42 ans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600" b="1" i="0">
                <a:solidFill>
                  <a:srgbClr val="B08D57"/>
                </a:solidFill>
                <a:latin typeface="Helvetica Neue"/>
              </a:rPr>
              <a:t>Parent célibataire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444444"/>
                </a:solidFill>
                <a:latin typeface="Helvetica Neue"/>
              </a:rPr>
              <a:t>Budget serré, métier mobile. Sensible au paiement en 3× sans frais et au bouton SOS.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08D57"/>
                </a:solidFill>
                <a:latin typeface="Helvetica Neue"/>
              </a:rPr>
              <a:t>JECA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77777"/>
                </a:solidFill>
                <a:latin typeface="Helvetica Neue"/>
              </a:rPr>
              <a:t>07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08D57"/>
                </a:solidFill>
                <a:latin typeface="Helvetica Neue"/>
              </a:rPr>
              <a:t>POUR QUI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329184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0" b="1" i="0">
                <a:solidFill>
                  <a:srgbClr val="E7C87A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69494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0" i="0">
                <a:solidFill>
                  <a:srgbClr val="141414"/>
                </a:solidFill>
                <a:latin typeface="Georgia"/>
              </a:rPr>
              <a:t>Inès, 36 ans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600" b="1" i="0">
                <a:solidFill>
                  <a:srgbClr val="B08D57"/>
                </a:solidFill>
                <a:latin typeface="Helvetica Neue"/>
              </a:rPr>
              <a:t>Sensible au style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444444"/>
                </a:solidFill>
                <a:latin typeface="Helvetica Neue"/>
              </a:rPr>
              <a:t>Refuse les montres « gadget ». Veut un vrai bijou : choisit le Collier JECA Lune, finition 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7C87A"/>
                </a:solidFill>
                <a:latin typeface="Helvetica Neue"/>
              </a:rPr>
              <a:t>JECA JEWELRY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C4BA"/>
                </a:solidFill>
                <a:latin typeface="Helvetica Neue"/>
              </a:rPr>
              <a:t>08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7C87A"/>
                </a:solidFill>
                <a:latin typeface="Helvetica Neue"/>
              </a:rPr>
              <a:t>COMMENT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944849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Un vrai bijou, d'abord.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E8E2D6"/>
                </a:solidFill>
                <a:latin typeface="Helvetica Neue"/>
              </a:rPr>
              <a:t>Bracelet, collier ou boucles. Or ou argent. Que l'enfant porte par envie.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7C87A"/>
                </a:solidFill>
                <a:latin typeface="Helvetica Neue"/>
              </a:rPr>
              <a:t>JECA JEWELRY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C4BA"/>
                </a:solidFill>
                <a:latin typeface="Helvetica Neue"/>
              </a:rPr>
              <a:t>09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7C87A"/>
                </a:solidFill>
                <a:latin typeface="Helvetica Neue"/>
              </a:rPr>
              <a:t>COMMENT · GÉOLOCALISATION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944849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Sa position, en temps réel.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E8E2D6"/>
                </a:solidFill>
                <a:latin typeface="Helvetica Neue"/>
              </a:rPr>
              <a:t>Précision urbaine de 5 mètres, mise à jour toutes les 30 secondes — depuis l'app des parents.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08D57"/>
                </a:solidFill>
                <a:latin typeface="Helvetica Neue"/>
              </a:rPr>
              <a:t>JECA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77777"/>
                </a:solidFill>
                <a:latin typeface="Helvetica Neue"/>
              </a:rPr>
              <a:t>10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08D57"/>
                </a:solidFill>
                <a:latin typeface="Helvetica Neue"/>
              </a:rPr>
              <a:t>COMMENT · 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852160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300" b="0" i="0">
                <a:solidFill>
                  <a:srgbClr val="141414"/>
                </a:solidFill>
                <a:latin typeface="Georgia"/>
              </a:rPr>
              <a:t>Une pression. Vous êtes alerté.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444444"/>
                </a:solidFill>
                <a:latin typeface="Helvetica Neue"/>
              </a:rPr>
              <a:t>Le bouton SOS est logé dans le bijou.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444444"/>
                </a:solidFill>
                <a:latin typeface="Helvetica Neue"/>
              </a:rPr>
              <a:t>L'enfant prévient ses parents d'un simple geste.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444444"/>
                </a:solidFill>
                <a:latin typeface="Helvetica Neue"/>
              </a:rPr>
              <a:t>Alerte immédiate, position transmise.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7C87A"/>
                </a:solidFill>
                <a:latin typeface="Helvetica Neue"/>
              </a:rPr>
              <a:t>JECA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C4BA"/>
                </a:solidFill>
                <a:latin typeface="Helvetica Neue"/>
              </a:rPr>
              <a:t>11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7C87A"/>
                </a:solidFill>
                <a:latin typeface="Helvetica Neue"/>
              </a:rPr>
              <a:t>COMMENT · ZONES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371600"/>
            <a:ext cx="5852160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300" b="0" i="0">
                <a:solidFill>
                  <a:srgbClr val="FFFFFF"/>
                </a:solidFill>
                <a:latin typeface="Georgia"/>
              </a:rPr>
              <a:t>Une alerte s'il quitte l'école.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DDD8CE"/>
                </a:solidFill>
                <a:latin typeface="Helvetica Neue"/>
              </a:rPr>
              <a:t>Définissez des zones : école, maison.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DDD8CE"/>
                </a:solidFill>
                <a:latin typeface="Helvetica Neue"/>
              </a:rPr>
              <a:t>Notification dès l'entrée ou la sortie.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DDD8CE"/>
                </a:solidFill>
                <a:latin typeface="Helvetica Neue"/>
              </a:rPr>
              <a:t>La surveillance qui veille en silence.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822960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08D57"/>
                </a:solidFill>
                <a:latin typeface="Helvetica Neue"/>
              </a:rPr>
              <a:t>JECA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77777"/>
                </a:solidFill>
                <a:latin typeface="Helvetica Neue"/>
              </a:rPr>
              <a:t>12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08D57"/>
                </a:solidFill>
                <a:latin typeface="Helvetica Neue"/>
              </a:rPr>
              <a:t>CONFIANCE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091153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0" i="0">
                <a:solidFill>
                  <a:srgbClr val="141414"/>
                </a:solidFill>
                <a:latin typeface="Georgia"/>
              </a:rPr>
              <a:t>Des données d'enfants qui restent en France.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777777"/>
                </a:solidFill>
                <a:latin typeface="Helvetica Neue"/>
              </a:rPr>
              <a:t>Conçu, assemblé et hébergé en France. Chiffré, conforme RGPD. La confiance n'est pas négociable.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08D57"/>
                </a:solidFill>
                <a:latin typeface="Helvetica Neue"/>
              </a:rPr>
              <a:t>JECA JEWELRY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77777"/>
                </a:solidFill>
                <a:latin typeface="Helvetica Neue"/>
              </a:rPr>
              <a:t>13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08D57"/>
                </a:solidFill>
                <a:latin typeface="Helvetica Neue"/>
              </a:rPr>
              <a:t>LA GAMME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141414"/>
                </a:solidFill>
                <a:latin typeface="Georgia"/>
              </a:rPr>
              <a:t>Trois familles · or &amp; argent</a:t>
            </a:r>
          </a:p>
        </p:txBody>
      </p:sp>
      <p:pic>
        <p:nvPicPr>
          <p:cNvPr id="7" name="Picture 6" descr="c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3454298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001768"/>
            <a:ext cx="345429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Georgia"/>
              </a:rPr>
              <a:t>Bracelets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08D57"/>
                </a:solidFill>
                <a:latin typeface="Helvetica Neue"/>
              </a:rPr>
              <a:t>79 – 99 €</a:t>
            </a:r>
          </a:p>
        </p:txBody>
      </p:sp>
      <p:pic>
        <p:nvPicPr>
          <p:cNvPr id="9" name="Picture 8" descr="c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698" y="1965960"/>
            <a:ext cx="3454298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8698" y="5001768"/>
            <a:ext cx="345429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Georgia"/>
              </a:rPr>
              <a:t>Colliers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08D57"/>
                </a:solidFill>
                <a:latin typeface="Helvetica Neue"/>
              </a:rPr>
              <a:t>89 – 109 €</a:t>
            </a:r>
          </a:p>
        </p:txBody>
      </p:sp>
      <p:pic>
        <p:nvPicPr>
          <p:cNvPr id="11" name="Picture 10" descr="c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476" y="1965960"/>
            <a:ext cx="3454298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34476" y="5001768"/>
            <a:ext cx="345429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Georgia"/>
              </a:rPr>
              <a:t>Boucles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08D57"/>
                </a:solidFill>
                <a:latin typeface="Helvetica Neue"/>
              </a:rPr>
              <a:t>69 – 89 €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822960" cy="38100"/>
          </a:xfrm>
          <a:prstGeom prst="rect">
            <a:avLst/>
          </a:prstGeom>
          <a:solidFill>
            <a:srgbClr val="E7C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7C87A"/>
                </a:solidFill>
                <a:latin typeface="Helvetica Neue"/>
              </a:rPr>
              <a:t>JECA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C4BA"/>
                </a:solidFill>
                <a:latin typeface="Helvetica Neue"/>
              </a:rPr>
              <a:t>14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7C87A"/>
                </a:solidFill>
                <a:latin typeface="Helvetica Neue"/>
              </a:rPr>
              <a:t>LA CONCURRENCE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091153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Personne n'occupe notre place.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9C4BA"/>
                </a:solidFill>
                <a:latin typeface="Helvetica Neue"/>
              </a:rPr>
              <a:t>Weenect : une balise qu'on oublie. Xplora : une montre encombrante. AngelSense : un boîtier médicalisé. JECA : le seul vrai bijou + GPS + données en France.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7C87A"/>
                </a:solidFill>
                <a:latin typeface="Helvetica Neue"/>
              </a:rPr>
              <a:t>JECA JEWELRY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C4BA"/>
                </a:solidFill>
                <a:latin typeface="Helvetica Neue"/>
              </a:rPr>
              <a:t>15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7C87A"/>
                </a:solidFill>
                <a:latin typeface="Helvetica Neue"/>
              </a:rPr>
              <a:t>LE LIVRABLE · LA BOUTIQUE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944849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En ligne. Maintenant.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E8E2D6"/>
                </a:solidFill>
                <a:latin typeface="Helvetica Neue"/>
              </a:rPr>
              <a:t>14 pages, panier, paiement Stripe, légal complet — déployée sur jeca-site.vercel.app.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08D57"/>
                </a:solidFill>
                <a:latin typeface="Helvetica Neue"/>
              </a:rPr>
              <a:t>JECA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77777"/>
                </a:solidFill>
                <a:latin typeface="Helvetica Neue"/>
              </a:rPr>
              <a:t>16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08D57"/>
                </a:solidFill>
                <a:latin typeface="Helvetica Neue"/>
              </a:rPr>
              <a:t>UX &amp; SEO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371600"/>
            <a:ext cx="5852160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300" b="0" i="0">
                <a:solidFill>
                  <a:srgbClr val="141414"/>
                </a:solidFill>
                <a:latin typeface="Georgia"/>
              </a:rPr>
              <a:t>Une fiche pensée pour convertir.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444444"/>
                </a:solidFill>
                <a:latin typeface="Helvetica Neue"/>
              </a:rPr>
              <a:t>Titre SEO, galerie multi-vues, zoom.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444444"/>
                </a:solidFill>
                <a:latin typeface="Helvetica Neue"/>
              </a:rPr>
              <a:t>Prix, réassurance, CTA sans scroll.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444444"/>
                </a:solidFill>
                <a:latin typeface="Helvetica Neue"/>
              </a:rPr>
              <a:t>Avis 4,9/5 + « vous aimerez aussi ».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822960" cy="38100"/>
          </a:xfrm>
          <a:prstGeom prst="rect">
            <a:avLst/>
          </a:prstGeom>
          <a:solidFill>
            <a:srgbClr val="E7C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7C87A"/>
                </a:solidFill>
                <a:latin typeface="Helvetica Neue"/>
              </a:rPr>
              <a:t>JECA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C4BA"/>
                </a:solidFill>
                <a:latin typeface="Helvetica Neue"/>
              </a:rPr>
              <a:t>17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7C87A"/>
                </a:solidFill>
                <a:latin typeface="Helvetica Neue"/>
              </a:rPr>
              <a:t>LE CŒUR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091153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Construit de A à Z avec l'IA.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9C4BA"/>
                </a:solidFill>
                <a:latin typeface="Helvetica Neue"/>
              </a:rPr>
              <a:t>Claude : le site et le code. Canva IA : logo, visuels, film publicitaire. ChatGPT : fiches &amp; SEO. Python : l'automatisation. L'IA accélère, l'humain décide.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08D57"/>
                </a:solidFill>
                <a:latin typeface="Helvetica Neue"/>
              </a:rPr>
              <a:t>JECA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77777"/>
                </a:solidFill>
                <a:latin typeface="Helvetica Neue"/>
              </a:rPr>
              <a:t>18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08D57"/>
                </a:solidFill>
                <a:latin typeface="Helvetica Neue"/>
              </a:rPr>
              <a:t>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852160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300" b="0" i="0">
                <a:solidFill>
                  <a:srgbClr val="141414"/>
                </a:solidFill>
                <a:latin typeface="Georgia"/>
              </a:rPr>
              <a:t>Vente + abonnement.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444444"/>
                </a:solidFill>
                <a:latin typeface="Helvetica Neue"/>
              </a:rPr>
              <a:t>Le bijou : un revenu immédiat (marge ~58 %).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444444"/>
                </a:solidFill>
                <a:latin typeface="Helvetica Neue"/>
              </a:rPr>
              <a:t>L'abonnement 6,99–9,99 €/mois : récurrent.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444444"/>
                </a:solidFill>
                <a:latin typeface="Helvetica Neue"/>
              </a:rPr>
              <a:t>Sans abonnement, le bijou perd sa fonction → rétention élevée.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7C87A"/>
                </a:solidFill>
                <a:latin typeface="Helvetica Neue"/>
              </a:rPr>
              <a:t>JECA JEWELRY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292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C4BA"/>
                </a:solidFill>
                <a:latin typeface="Helvetica Neue"/>
              </a:rPr>
              <a:t>19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7C87A"/>
                </a:solidFill>
                <a:latin typeface="Helvetica Neue"/>
              </a:rPr>
              <a:t>DATA · RÉSULTATS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822960" cy="38100"/>
          </a:xfrm>
          <a:prstGeom prst="rect">
            <a:avLst/>
          </a:prstGeom>
          <a:solidFill>
            <a:srgbClr val="E7C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0" i="0">
                <a:solidFill>
                  <a:srgbClr val="FFFFFF"/>
                </a:solidFill>
                <a:latin typeface="Georgia"/>
              </a:rPr>
              <a:t>Rentable dès l'année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00400"/>
            <a:ext cx="2522143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E7C87A"/>
                </a:solidFill>
                <a:latin typeface="Georgia"/>
              </a:rPr>
              <a:t>762 k€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FD6E0"/>
                </a:solidFill>
                <a:latin typeface="Helvetica Neue"/>
              </a:rPr>
              <a:t>CA année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0823" y="3200400"/>
            <a:ext cx="2522143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E7C87A"/>
                </a:solidFill>
                <a:latin typeface="Georgia"/>
              </a:rPr>
              <a:t>6 000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FD6E0"/>
                </a:solidFill>
                <a:latin typeface="Helvetica Neue"/>
              </a:rPr>
              <a:t>bijoux vendus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200400"/>
            <a:ext cx="2522143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E7C87A"/>
                </a:solidFill>
                <a:latin typeface="Georgia"/>
              </a:rPr>
              <a:t>4 200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FD6E0"/>
                </a:solidFill>
                <a:latin typeface="Helvetica Neue"/>
              </a:rPr>
              <a:t>abonnés actifs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6631" y="3200400"/>
            <a:ext cx="2522143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E7C87A"/>
                </a:solidFill>
                <a:latin typeface="Georgia"/>
              </a:rPr>
              <a:t>29 %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FD6E0"/>
                </a:solidFill>
                <a:latin typeface="Helvetica Neue"/>
              </a:rPr>
              <a:t>marge à 3 ans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54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87" y="91440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0" i="0">
                <a:solidFill>
                  <a:srgbClr val="FFFFFF"/>
                </a:solidFill>
                <a:latin typeface="Georgia"/>
              </a:rPr>
              <a:t>JECA Jewelry transforme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200" b="0" i="0">
                <a:solidFill>
                  <a:srgbClr val="FFFFFF"/>
                </a:solidFill>
                <a:latin typeface="Georgia"/>
              </a:rPr>
              <a:t>l'inquiétude en sérénité.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28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000" b="0" i="1">
                <a:solidFill>
                  <a:srgbClr val="E7C87A"/>
                </a:solidFill>
                <a:latin typeface="Georgia"/>
              </a:rPr>
              <a:t>La sérénité se porte.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jeca-site.vercel.app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9C4BA"/>
                </a:solidFill>
                <a:latin typeface="Helvetica Neue"/>
              </a:rPr>
              <a:t>Merci de votre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